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17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56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odule3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80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46653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26280"/>
            <a:ext cx="12191695" cy="233172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694944"/>
            <a:ext cx="109728" cy="365760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4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299305"/>
            <a:ext cx="85001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Attainment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61053" y="3382347"/>
            <a:ext cx="8006039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Board of Accreditation for Engineering and Technical Education (BAETE)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Training on OBE and Accreditation, 26-27 June 2026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935520" y="2759622"/>
            <a:ext cx="5486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4FC7E3-01EE-AC92-88CE-037C07302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969090"/>
              </p:ext>
            </p:extLst>
          </p:nvPr>
        </p:nvGraphicFramePr>
        <p:xfrm>
          <a:off x="1815779" y="4705794"/>
          <a:ext cx="8560134" cy="178711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65328">
                  <a:extLst>
                    <a:ext uri="{9D8B030D-6E8A-4147-A177-3AD203B41FA5}">
                      <a16:colId xmlns:a16="http://schemas.microsoft.com/office/drawing/2014/main" val="1856986720"/>
                    </a:ext>
                  </a:extLst>
                </a:gridCol>
                <a:gridCol w="5194806">
                  <a:extLst>
                    <a:ext uri="{9D8B030D-6E8A-4147-A177-3AD203B41FA5}">
                      <a16:colId xmlns:a16="http://schemas.microsoft.com/office/drawing/2014/main" val="2186870098"/>
                    </a:ext>
                  </a:extLst>
                </a:gridCol>
              </a:tblGrid>
              <a:tr h="4249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Courtesy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945977"/>
                  </a:ext>
                </a:extLst>
              </a:tr>
              <a:tr h="136216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Mafin Muntasir Rahman</a:t>
                      </a:r>
                    </a:p>
                    <a:p>
                      <a:pPr algn="ctr"/>
                      <a:r>
                        <a:rPr lang="en-US" sz="1800" dirty="0"/>
                        <a:t>Assistant Professor</a:t>
                      </a:r>
                    </a:p>
                    <a:p>
                      <a:pPr algn="ctr"/>
                      <a:r>
                        <a:rPr lang="en-US" sz="1800" dirty="0"/>
                        <a:t>Dept. of EEE, BAUST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Dr. Sadid Muneer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Director, IR and Industry Liaison &amp;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Member Secretary, Training Taskforce, BAETE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Associate Professor, EEE, UIU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052032"/>
                  </a:ext>
                </a:extLst>
              </a:tr>
            </a:tbl>
          </a:graphicData>
        </a:graphic>
      </p:graphicFrame>
      <p:sp>
        <p:nvSpPr>
          <p:cNvPr id="16" name="Text 10">
            <a:extLst>
              <a:ext uri="{FF2B5EF4-FFF2-40B4-BE49-F238E27FC236}">
                <a16:creationId xmlns:a16="http://schemas.microsoft.com/office/drawing/2014/main" id="{CD8FFCEE-EB94-A6C0-0C0C-4ECDDAA3093E}"/>
              </a:ext>
            </a:extLst>
          </p:cNvPr>
          <p:cNvSpPr/>
          <p:nvPr/>
        </p:nvSpPr>
        <p:spPr>
          <a:xfrm>
            <a:off x="961053" y="2803493"/>
            <a:ext cx="5273125" cy="3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AF6"/>
                </a:solidFill>
              </a:rPr>
              <a:t>Hands-on Training on Outcome-Based Education (OBE)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D4793F-2EC0-055B-DEF2-4D93E7EF95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39" y="4871672"/>
            <a:ext cx="1389502" cy="1437221"/>
          </a:xfrm>
          <a:prstGeom prst="rect">
            <a:avLst/>
          </a:prstGeom>
        </p:spPr>
      </p:pic>
      <p:pic>
        <p:nvPicPr>
          <p:cNvPr id="20" name="Picture 19" descr="Bootstrap Image Preview">
            <a:extLst>
              <a:ext uri="{FF2B5EF4-FFF2-40B4-BE49-F238E27FC236}">
                <a16:creationId xmlns:a16="http://schemas.microsoft.com/office/drawing/2014/main" id="{3CB71113-C55E-5782-5A17-628B7DB3E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688" y="4735766"/>
            <a:ext cx="1719882" cy="1719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6607" y="877823"/>
            <a:ext cx="10698480" cy="48280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Directives on Outcome Attainment in BAETE Manual and SAR Template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CO Attainment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PO Attainment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PEO Attainment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Continuous Quality Improvement (CQI)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Summary</a:t>
            </a: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D20B325-1B74-ADB3-861C-6374F02B544D}"/>
              </a:ext>
            </a:extLst>
          </p:cNvPr>
          <p:cNvSpPr/>
          <p:nvPr/>
        </p:nvSpPr>
        <p:spPr>
          <a:xfrm>
            <a:off x="548640" y="1115568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Components of OBE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830568" y="152704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01968" y="344728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C9EB717-7967-3D59-51E5-76EE8B5F2136}"/>
              </a:ext>
            </a:extLst>
          </p:cNvPr>
          <p:cNvGrpSpPr/>
          <p:nvPr/>
        </p:nvGrpSpPr>
        <p:grpSpPr>
          <a:xfrm>
            <a:off x="6080759" y="1736614"/>
            <a:ext cx="4761411" cy="2154249"/>
            <a:chOff x="731520" y="1325880"/>
            <a:chExt cx="3840480" cy="1097280"/>
          </a:xfrm>
        </p:grpSpPr>
        <p:sp>
          <p:nvSpPr>
            <p:cNvPr id="18" name="Shape 16"/>
            <p:cNvSpPr/>
            <p:nvPr/>
          </p:nvSpPr>
          <p:spPr>
            <a:xfrm>
              <a:off x="731520" y="1325880"/>
              <a:ext cx="3840480" cy="10972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0E7C8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731520" y="1325880"/>
              <a:ext cx="3840480" cy="320040"/>
            </a:xfrm>
            <a:prstGeom prst="rect">
              <a:avLst/>
            </a:prstGeom>
            <a:solidFill>
              <a:srgbClr val="0E7C86"/>
            </a:solidFill>
            <a:ln w="12700">
              <a:solidFill>
                <a:srgbClr val="0E7C8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41248" y="1399032"/>
              <a:ext cx="362102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Program Outcomes (PO)</a:t>
              </a:r>
              <a:endParaRPr lang="en-US" sz="2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68680" y="1801368"/>
              <a:ext cx="3566160" cy="53035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POs describe what students are expected to know and be able to perform by the time of graduation.</a:t>
              </a:r>
              <a:endParaRPr lang="en-US" sz="24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71B13A-6EC5-1483-48DE-03D2827F1E97}"/>
              </a:ext>
            </a:extLst>
          </p:cNvPr>
          <p:cNvGrpSpPr/>
          <p:nvPr/>
        </p:nvGrpSpPr>
        <p:grpSpPr>
          <a:xfrm>
            <a:off x="914400" y="1732787"/>
            <a:ext cx="4553712" cy="2158077"/>
            <a:chOff x="8229600" y="1143000"/>
            <a:chExt cx="3108960" cy="1143000"/>
          </a:xfrm>
        </p:grpSpPr>
        <p:sp>
          <p:nvSpPr>
            <p:cNvPr id="22" name="Shape 20"/>
            <p:cNvSpPr/>
            <p:nvPr/>
          </p:nvSpPr>
          <p:spPr>
            <a:xfrm>
              <a:off x="8229600" y="1143000"/>
              <a:ext cx="3108960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8229600" y="1143000"/>
              <a:ext cx="3108960" cy="320040"/>
            </a:xfrm>
            <a:prstGeom prst="rect">
              <a:avLst/>
            </a:prstGeom>
            <a:solidFill>
              <a:srgbClr val="F2B441"/>
            </a:solidFill>
            <a:ln w="1270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8339328" y="1216152"/>
              <a:ext cx="288950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Course Outcomes (CO)</a:t>
              </a:r>
              <a:endParaRPr lang="en-US" sz="2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366760" y="1618488"/>
              <a:ext cx="2834640" cy="5760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COs address the abilities to be attained by students upon completion of a course.</a:t>
              </a:r>
              <a:endParaRPr lang="en-US" sz="2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4C1D23-669A-30CF-4780-9D43551A35DC}"/>
              </a:ext>
            </a:extLst>
          </p:cNvPr>
          <p:cNvGrpSpPr/>
          <p:nvPr/>
        </p:nvGrpSpPr>
        <p:grpSpPr>
          <a:xfrm>
            <a:off x="2949779" y="3955132"/>
            <a:ext cx="5727131" cy="2373524"/>
            <a:chOff x="1554480" y="4206240"/>
            <a:chExt cx="4023360" cy="1097280"/>
          </a:xfrm>
        </p:grpSpPr>
        <p:sp>
          <p:nvSpPr>
            <p:cNvPr id="26" name="Shape 24"/>
            <p:cNvSpPr/>
            <p:nvPr/>
          </p:nvSpPr>
          <p:spPr>
            <a:xfrm>
              <a:off x="1554480" y="4206240"/>
              <a:ext cx="4023360" cy="10972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1554480" y="4206240"/>
              <a:ext cx="4023360" cy="320040"/>
            </a:xfrm>
            <a:prstGeom prst="rect">
              <a:avLst/>
            </a:prstGeom>
            <a:solidFill>
              <a:srgbClr val="0B1F3A"/>
            </a:solidFill>
            <a:ln w="1270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Text 26"/>
            <p:cNvSpPr/>
            <p:nvPr/>
          </p:nvSpPr>
          <p:spPr>
            <a:xfrm>
              <a:off x="1664208" y="4279392"/>
              <a:ext cx="380390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Program Educational Objectives (PEO)</a:t>
              </a:r>
              <a:endParaRPr lang="en-US" sz="2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691640" y="4681728"/>
              <a:ext cx="3749040" cy="53035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PEOs address graduates’ attainment around 3-5 years after graduation.</a:t>
              </a:r>
              <a:endParaRPr lang="en-US" sz="2400" dirty="0"/>
            </a:p>
          </p:txBody>
        </p:sp>
      </p:grpSp>
      <p:sp>
        <p:nvSpPr>
          <p:cNvPr id="34" name="Shape 11">
            <a:extLst>
              <a:ext uri="{FF2B5EF4-FFF2-40B4-BE49-F238E27FC236}">
                <a16:creationId xmlns:a16="http://schemas.microsoft.com/office/drawing/2014/main" id="{9B243419-5B80-ACDF-9E4A-45310FC1C2B4}"/>
              </a:ext>
            </a:extLst>
          </p:cNvPr>
          <p:cNvSpPr/>
          <p:nvPr/>
        </p:nvSpPr>
        <p:spPr>
          <a:xfrm>
            <a:off x="548640" y="1284265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Attainment of Outcomes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55047C-484B-301C-C505-AAE9D4E77889}"/>
              </a:ext>
            </a:extLst>
          </p:cNvPr>
          <p:cNvGrpSpPr/>
          <p:nvPr/>
        </p:nvGrpSpPr>
        <p:grpSpPr>
          <a:xfrm>
            <a:off x="548640" y="2743200"/>
            <a:ext cx="3566160" cy="2105725"/>
            <a:chOff x="914400" y="1828800"/>
            <a:chExt cx="3200400" cy="1828800"/>
          </a:xfrm>
        </p:grpSpPr>
        <p:sp>
          <p:nvSpPr>
            <p:cNvPr id="9" name="Shape 7"/>
            <p:cNvSpPr/>
            <p:nvPr/>
          </p:nvSpPr>
          <p:spPr>
            <a:xfrm>
              <a:off x="914400" y="1828800"/>
              <a:ext cx="3200400" cy="18288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3970">
              <a:solidFill>
                <a:srgbClr val="0E7C8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914400" y="1828800"/>
              <a:ext cx="3200400" cy="320040"/>
            </a:xfrm>
            <a:prstGeom prst="rect">
              <a:avLst/>
            </a:prstGeom>
            <a:solidFill>
              <a:srgbClr val="0E7C86"/>
            </a:solidFill>
            <a:ln w="12700">
              <a:solidFill>
                <a:srgbClr val="0E7C86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Text 9"/>
            <p:cNvSpPr/>
            <p:nvPr/>
          </p:nvSpPr>
          <p:spPr>
            <a:xfrm>
              <a:off x="1024128" y="1901952"/>
              <a:ext cx="29809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CO Attainment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51560" y="2221992"/>
              <a:ext cx="2926080" cy="1344169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102A43"/>
                  </a:solidFill>
                </a:rPr>
                <a:t>Measured at course level using direct assessment and, where useful, surveys.</a:t>
              </a:r>
              <a:endParaRPr lang="en-US" sz="20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EC749B-5EFB-CAFA-0340-0E764E25B718}"/>
              </a:ext>
            </a:extLst>
          </p:cNvPr>
          <p:cNvGrpSpPr/>
          <p:nvPr/>
        </p:nvGrpSpPr>
        <p:grpSpPr>
          <a:xfrm>
            <a:off x="4507618" y="2293464"/>
            <a:ext cx="3200400" cy="1828800"/>
            <a:chOff x="4480560" y="1828800"/>
            <a:chExt cx="3200400" cy="1828800"/>
          </a:xfrm>
        </p:grpSpPr>
        <p:sp>
          <p:nvSpPr>
            <p:cNvPr id="13" name="Shape 11"/>
            <p:cNvSpPr/>
            <p:nvPr/>
          </p:nvSpPr>
          <p:spPr>
            <a:xfrm>
              <a:off x="4480560" y="1828800"/>
              <a:ext cx="3200400" cy="18288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4480560" y="1828800"/>
              <a:ext cx="3200400" cy="320040"/>
            </a:xfrm>
            <a:prstGeom prst="rect">
              <a:avLst/>
            </a:prstGeom>
            <a:solidFill>
              <a:srgbClr val="F2B441"/>
            </a:solidFill>
            <a:ln w="1270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590288" y="1901952"/>
              <a:ext cx="29809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PO Attainment</a:t>
              </a:r>
              <a:endParaRPr lang="en-US" sz="2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617720" y="2304288"/>
              <a:ext cx="2926080" cy="12618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102A43"/>
                  </a:solidFill>
                </a:rPr>
                <a:t>Measured at program level by aggregating CO/assessment evidence across selected courses.</a:t>
              </a:r>
              <a:endParaRPr lang="en-US" sz="20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4D67C6-A0CD-83DE-5437-D9713360B410}"/>
              </a:ext>
            </a:extLst>
          </p:cNvPr>
          <p:cNvGrpSpPr/>
          <p:nvPr/>
        </p:nvGrpSpPr>
        <p:grpSpPr>
          <a:xfrm>
            <a:off x="8100836" y="1526706"/>
            <a:ext cx="3749040" cy="2000438"/>
            <a:chOff x="8046720" y="1828800"/>
            <a:chExt cx="3200400" cy="1828800"/>
          </a:xfrm>
        </p:grpSpPr>
        <p:sp>
          <p:nvSpPr>
            <p:cNvPr id="17" name="Shape 15"/>
            <p:cNvSpPr/>
            <p:nvPr/>
          </p:nvSpPr>
          <p:spPr>
            <a:xfrm>
              <a:off x="8046720" y="1828800"/>
              <a:ext cx="3200400" cy="18288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397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8046720" y="1828800"/>
              <a:ext cx="3200400" cy="320040"/>
            </a:xfrm>
            <a:prstGeom prst="rect">
              <a:avLst/>
            </a:prstGeom>
            <a:solidFill>
              <a:srgbClr val="0B1F3A"/>
            </a:solidFill>
            <a:ln w="1270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8156448" y="1901952"/>
              <a:ext cx="29809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PEO Attainment</a:t>
              </a:r>
              <a:endParaRPr lang="en-US" sz="2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183880" y="2304288"/>
              <a:ext cx="2926080" cy="12618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102A43"/>
                  </a:solidFill>
                </a:rPr>
                <a:t>Measured through graduate and employer feedback after graduation.</a:t>
              </a:r>
              <a:endParaRPr lang="en-US" sz="200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4137660" y="3476027"/>
            <a:ext cx="320040" cy="64008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28786" y="2887824"/>
            <a:ext cx="320040" cy="64008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F482D304-D570-3206-5B62-6D563B0546AB}"/>
              </a:ext>
            </a:extLst>
          </p:cNvPr>
          <p:cNvSpPr/>
          <p:nvPr/>
        </p:nvSpPr>
        <p:spPr>
          <a:xfrm>
            <a:off x="548640" y="1209620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441" y="1325880"/>
            <a:ext cx="11021319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1. Directives on Outcome Attainment in BAETE Manual and SAR Template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2606D"/>
                </a:solidFill>
              </a:rPr>
              <a:t>2. CO Attainment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2606D"/>
                </a:solidFill>
              </a:rPr>
              <a:t>3. PO Attainment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2606D"/>
                </a:solidFill>
              </a:rPr>
              <a:t>4. PEO Attainment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2606D"/>
                </a:solidFill>
              </a:rPr>
              <a:t>5. Continuous Quality Improvement (CQI)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2606D"/>
                </a:solidFill>
              </a:rPr>
              <a:t>6. Summary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846E59C-A4AC-A36B-A037-59A1BEE877CE}"/>
              </a:ext>
            </a:extLst>
          </p:cNvPr>
          <p:cNvSpPr/>
          <p:nvPr/>
        </p:nvSpPr>
        <p:spPr>
          <a:xfrm>
            <a:off x="548640" y="1181629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Manual / SAR Template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698480" cy="413066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02A43"/>
                </a:solidFill>
              </a:rPr>
              <a:t>• </a:t>
            </a:r>
            <a:r>
              <a:rPr lang="en-US" sz="2400" b="1" dirty="0">
                <a:solidFill>
                  <a:srgbClr val="102A43"/>
                </a:solidFill>
              </a:rPr>
              <a:t>SAR Template, ACC-TMP-04-04-V3-F, 2.4 Assessment of Course Outcomes:</a:t>
            </a:r>
            <a:r>
              <a:rPr lang="en-US" sz="2400" dirty="0">
                <a:solidFill>
                  <a:srgbClr val="102A43"/>
                </a:solidFill>
              </a:rPr>
              <a:t> Describe how the attainment of COs is assessed in each course, including rubrics where applicable.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102A43"/>
                </a:solidFill>
              </a:rPr>
              <a:t>Assessment processes, attainment criteria, scale, and expected attainment level should be clearly stated.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b="1" dirty="0">
                <a:solidFill>
                  <a:srgbClr val="102A43"/>
                </a:solidFill>
              </a:rPr>
              <a:t>• Accreditation Criteria, ACC-MAN-02-v3-F, 5.2 Program Outcomes and Assessment: </a:t>
            </a:r>
            <a:r>
              <a:rPr lang="en-US" sz="2400" dirty="0">
                <a:solidFill>
                  <a:srgbClr val="102A43"/>
                </a:solidFill>
              </a:rPr>
              <a:t>The program must demonstrate, </a:t>
            </a:r>
            <a:r>
              <a:rPr lang="en-US" sz="2400" b="1" dirty="0">
                <a:solidFill>
                  <a:srgbClr val="102A43"/>
                </a:solidFill>
              </a:rPr>
              <a:t>using direct methods</a:t>
            </a:r>
            <a:r>
              <a:rPr lang="en-US" sz="2400" dirty="0">
                <a:solidFill>
                  <a:srgbClr val="102A43"/>
                </a:solidFill>
              </a:rPr>
              <a:t>, that students attain all POs by graduation.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E95C3F4-9D37-96B8-B813-2459D135DB6B}"/>
              </a:ext>
            </a:extLst>
          </p:cNvPr>
          <p:cNvSpPr/>
          <p:nvPr/>
        </p:nvSpPr>
        <p:spPr>
          <a:xfrm>
            <a:off x="548640" y="1234440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Manual / SAR Template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698480" cy="40840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just"/>
            <a:r>
              <a:rPr lang="en-US" sz="2400" dirty="0">
                <a:solidFill>
                  <a:srgbClr val="102A43"/>
                </a:solidFill>
              </a:rPr>
              <a:t>• </a:t>
            </a:r>
            <a:r>
              <a:rPr lang="en-US" sz="2400" b="1" dirty="0">
                <a:solidFill>
                  <a:srgbClr val="102A43"/>
                </a:solidFill>
              </a:rPr>
              <a:t>Accreditation Criteria, ACC-MAN-02-v3-F, 5.1 Program Educational Objectives:</a:t>
            </a:r>
            <a:r>
              <a:rPr lang="en-US" sz="2400" dirty="0">
                <a:solidFill>
                  <a:srgbClr val="102A43"/>
                </a:solidFill>
              </a:rPr>
              <a:t> The program must demonstrate an established system to compile PEO attainment including a mechanism for tracking and to obtain feedback from graduates and their employers.</a:t>
            </a:r>
            <a:endParaRPr lang="en-US" sz="2400" dirty="0"/>
          </a:p>
          <a:p>
            <a:pPr marL="0" indent="0" algn="just">
              <a:buNone/>
            </a:pPr>
            <a:endParaRPr lang="en-US" sz="2400" b="1" dirty="0">
              <a:solidFill>
                <a:srgbClr val="102A43"/>
              </a:solidFill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02A43"/>
                </a:solidFill>
              </a:rPr>
              <a:t>• SAR Template, ACC-TMP-04-04-V3-F, 5.4.2 CQI Loop for PO: </a:t>
            </a:r>
            <a:r>
              <a:rPr lang="en-US" sz="2400" dirty="0">
                <a:solidFill>
                  <a:srgbClr val="102A43"/>
                </a:solidFill>
              </a:rPr>
              <a:t>Describe the CQI processes for </a:t>
            </a:r>
            <a:r>
              <a:rPr lang="en-US" sz="2400" dirty="0" err="1">
                <a:solidFill>
                  <a:srgbClr val="102A43"/>
                </a:solidFill>
              </a:rPr>
              <a:t>POs.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102A43"/>
                </a:solidFill>
              </a:rPr>
              <a:t>Discuss how direct and indirect assessment results, including feedback from stakeholders, are systematically used.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102A43"/>
                </a:solidFill>
              </a:rPr>
              <a:t>Evidence should show that PO attainment is continuously improved.</a:t>
            </a:r>
            <a:endParaRPr lang="en-US" sz="2400" b="1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A55ECEA-E339-E08E-CAC2-26234950D966}"/>
              </a:ext>
            </a:extLst>
          </p:cNvPr>
          <p:cNvSpPr/>
          <p:nvPr/>
        </p:nvSpPr>
        <p:spPr>
          <a:xfrm>
            <a:off x="548640" y="1234440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Methods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0698480" cy="153021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dirty="0">
                <a:solidFill>
                  <a:srgbClr val="102A43"/>
                </a:solidFill>
              </a:rPr>
              <a:t>• Direct assessment methods in courses.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800" dirty="0">
                <a:solidFill>
                  <a:srgbClr val="102A43"/>
                </a:solidFill>
              </a:rPr>
              <a:t>• Indirect assessment methods through surveys and feedback.</a:t>
            </a:r>
            <a:endParaRPr lang="en-US" sz="28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FAC1ADE-FBB4-4D01-A24C-CEF1A4318DAA}"/>
              </a:ext>
            </a:extLst>
          </p:cNvPr>
          <p:cNvSpPr/>
          <p:nvPr/>
        </p:nvSpPr>
        <p:spPr>
          <a:xfrm>
            <a:off x="548640" y="1234440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through Surveys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02649"/>
              </p:ext>
            </p:extLst>
          </p:nvPr>
        </p:nvGraphicFramePr>
        <p:xfrm>
          <a:off x="373224" y="1682496"/>
          <a:ext cx="11513975" cy="4114800"/>
        </p:xfrm>
        <a:graphic>
          <a:graphicData uri="http://schemas.openxmlformats.org/drawingml/2006/table">
            <a:tbl>
              <a:tblPr/>
              <a:tblGrid>
                <a:gridCol w="1884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Assessment Area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Survey/Feedback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 assessment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End-of-course student surveys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 to update course evaluation questionnaire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 gaps in course delivery and assessment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 assessment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Exit survey for all graduating students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Questions to address all 12 POs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 program-level attainment evidence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PEO assessment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Graduate and employer surveys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Questions must address all PEO statements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Graduates 3-5 years after graduation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 long-term graduate outcomes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11">
            <a:extLst>
              <a:ext uri="{FF2B5EF4-FFF2-40B4-BE49-F238E27FC236}">
                <a16:creationId xmlns:a16="http://schemas.microsoft.com/office/drawing/2014/main" id="{B550C1FA-98A4-2DE8-BBFD-4538D8066FAD}"/>
              </a:ext>
            </a:extLst>
          </p:cNvPr>
          <p:cNvSpPr/>
          <p:nvPr/>
        </p:nvSpPr>
        <p:spPr>
          <a:xfrm>
            <a:off x="548640" y="1234440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051560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1. Directives on Outcome Attainment in BAETE Manual and SAR Template</a:t>
            </a:r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2. CO Attainment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3. PO Attainment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4. PEO Attainment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5. Continuous Quality Improvement (CQI)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6. Summary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EB875B-DE07-8570-8320-6F538BE3625E}"/>
              </a:ext>
            </a:extLst>
          </p:cNvPr>
          <p:cNvSpPr/>
          <p:nvPr/>
        </p:nvSpPr>
        <p:spPr>
          <a:xfrm>
            <a:off x="548640" y="1234440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Assessment in Courses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031875"/>
            <a:ext cx="11018520" cy="52774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Assessment of CO attainment and assessment of grades in a course are different.</a:t>
            </a: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Which courses should we consider? </a:t>
            </a:r>
          </a:p>
          <a:p>
            <a:pPr marL="800100" lvl="1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CO assessment in all courses? </a:t>
            </a:r>
          </a:p>
          <a:p>
            <a:pPr marL="800100" lvl="1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May be for selective section in case of multiple sections</a:t>
            </a:r>
          </a:p>
          <a:p>
            <a:pPr marL="800100" lvl="1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May be in selective semester/trimester? </a:t>
            </a:r>
          </a:p>
          <a:p>
            <a:pPr marL="800100" lvl="1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Assessment in selective core courses?</a:t>
            </a:r>
            <a:endParaRPr lang="en-US" sz="2400" dirty="0"/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Even in case of sampling, CO attainment in all courses is required for course-level CQI.</a:t>
            </a:r>
            <a:endParaRPr lang="en-US" sz="2400" dirty="0"/>
          </a:p>
          <a:p>
            <a:pPr algn="just">
              <a:lnSpc>
                <a:spcPct val="120000"/>
              </a:lnSpc>
            </a:pPr>
            <a:r>
              <a:rPr lang="en-US" sz="2400" dirty="0">
                <a:solidFill>
                  <a:srgbClr val="102A43"/>
                </a:solidFill>
              </a:rPr>
              <a:t>• </a:t>
            </a:r>
            <a:r>
              <a:rPr lang="en-US" sz="2400" b="1" dirty="0">
                <a:solidFill>
                  <a:srgbClr val="102A43"/>
                </a:solidFill>
              </a:rPr>
              <a:t>SAR Template, ACC-TMP-04-04-V3-F, 5.4.3 CQI Loop for Courses and Curriculum:</a:t>
            </a:r>
            <a:r>
              <a:rPr lang="en-US" sz="2400" dirty="0">
                <a:solidFill>
                  <a:srgbClr val="102A43"/>
                </a:solidFill>
              </a:rPr>
              <a:t> Describe the CQI processes for courses and curriculum. Discuss how different stakeholders’ assessment results and feedback are used to continuously improve COs, attainments, and curriculum.</a:t>
            </a: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6EFF430-FA65-378E-D25E-D9EE6CE134C1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Assessment in Theory Courses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698480" cy="5074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May exclude class tests/quizzes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most of the time not all CTs are counted (3 out of 4)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Midterm and final examinations usually cover the whole syllabus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No need to include the same question/content twice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Too many assessments will make the process difficult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Assignments are useful for open-ended, individual problems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First, we need to prepare a course syllabus that must have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COs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CO assessment methods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CO-PO mapping</a:t>
            </a: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C579C18-231A-556C-5D0D-3E2798B0085E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109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CO-PO Mapping of a Theory Course (Electronics)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693447"/>
              </p:ext>
            </p:extLst>
          </p:nvPr>
        </p:nvGraphicFramePr>
        <p:xfrm>
          <a:off x="411480" y="1298447"/>
          <a:ext cx="11201398" cy="5109640"/>
        </p:xfrm>
        <a:graphic>
          <a:graphicData uri="http://schemas.openxmlformats.org/drawingml/2006/table">
            <a:tbl>
              <a:tblPr/>
              <a:tblGrid>
                <a:gridCol w="589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50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80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Description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K/P/A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Bloom Domain and level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Delivery Methods and Activities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Assessment Tools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behavior and functionality of basic electronic devices and circuits with those devices.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PO1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K3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Cognitive / Understand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85750" indent="-285750" algn="ctr">
                        <a:lnSpc>
                          <a:spcPct val="2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</a:rPr>
                        <a:t>Lecture</a:t>
                      </a:r>
                    </a:p>
                    <a:p>
                      <a:pPr marL="285750" indent="-285750" algn="ctr">
                        <a:lnSpc>
                          <a:spcPct val="2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</a:rPr>
                        <a:t>Problem solving</a:t>
                      </a:r>
                    </a:p>
                    <a:p>
                      <a:pPr marL="285750" indent="-285750" algn="ctr">
                        <a:lnSpc>
                          <a:spcPct val="2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</a:rPr>
                        <a:t>Group activities</a:t>
                      </a: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85750" indent="-285750" algn="ctr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Quiz</a:t>
                      </a:r>
                    </a:p>
                    <a:p>
                      <a:pPr marL="285750" indent="-285750" algn="ctr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</a:rPr>
                        <a:t>Class Test</a:t>
                      </a:r>
                    </a:p>
                    <a:p>
                      <a:pPr marL="285750" indent="-285750" algn="ctr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</a:rPr>
                        <a:t>Exam</a:t>
                      </a:r>
                    </a:p>
                    <a:p>
                      <a:pPr marL="285750" indent="-285750" algn="ctr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</a:rPr>
                        <a:t>Assignment</a:t>
                      </a:r>
                      <a:endParaRPr lang="en-US" sz="1800" dirty="0">
                        <a:latin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Determine parameters for electronic circuits indicative of performance.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K3, P1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Cognitive / Apply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Apply concepts of electronic devices and Op-Amps to design/construct circuits.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K5, P1, P2, P3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Cognitive / Apply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 frequency response of a circuit with Bode plots.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Cognitive / Apply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4A0EE9D5-AFBF-435F-69BF-086E7127705A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109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of Assessments in Theory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40360"/>
              </p:ext>
            </p:extLst>
          </p:nvPr>
        </p:nvGraphicFramePr>
        <p:xfrm>
          <a:off x="1045029" y="1604869"/>
          <a:ext cx="10459613" cy="4264077"/>
        </p:xfrm>
        <a:graphic>
          <a:graphicData uri="http://schemas.openxmlformats.org/drawingml/2006/table">
            <a:tbl>
              <a:tblPr/>
              <a:tblGrid>
                <a:gridCol w="603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5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5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5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290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Assessment Item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Marks Allocated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137229"/>
                  </a:ext>
                </a:extLst>
              </a:tr>
              <a:tr h="667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Attendance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 test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Assignment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Mid-term exam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exam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7D53D279-F840-D7FB-E454-9B68E19DD9F0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109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Mapping of Questions to COs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10789920" cy="22010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All assessments (CT, assignments, mid, final) that are considered must map to the COs.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For mid/final, mapping can be included with question moderation.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Fill up your own question moderation form.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This will clearly indicate whether you are maintaining balance in the question.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85603"/>
              </p:ext>
            </p:extLst>
          </p:nvPr>
        </p:nvGraphicFramePr>
        <p:xfrm>
          <a:off x="2457061" y="3640804"/>
          <a:ext cx="7277878" cy="2536430"/>
        </p:xfrm>
        <a:graphic>
          <a:graphicData uri="http://schemas.openxmlformats.org/drawingml/2006/table">
            <a:tbl>
              <a:tblPr/>
              <a:tblGrid>
                <a:gridCol w="139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2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Mid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Assignment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Q4/Q5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Q5/Q6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11">
            <a:extLst>
              <a:ext uri="{FF2B5EF4-FFF2-40B4-BE49-F238E27FC236}">
                <a16:creationId xmlns:a16="http://schemas.microsoft.com/office/drawing/2014/main" id="{90D2E54D-C641-B189-3BF5-7AF11EF74CCD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Mapping of Questions to COs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479646"/>
            <a:ext cx="5860558" cy="405359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• Keep the work as simple as possible.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• Note, All questions need not be mapped.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• Questions that are mapped should be compulsory.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70C0"/>
                </a:solidFill>
              </a:rPr>
              <a:t>• Options may be given if all questions map to the same CO.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• One question should not map to multiple COs.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70C0"/>
                </a:solidFill>
              </a:rPr>
              <a:t>• Avoid too many breakdowns/details of mapping.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049951"/>
              </p:ext>
            </p:extLst>
          </p:nvPr>
        </p:nvGraphicFramePr>
        <p:xfrm>
          <a:off x="6710111" y="2038552"/>
          <a:ext cx="5373032" cy="2780895"/>
        </p:xfrm>
        <a:graphic>
          <a:graphicData uri="http://schemas.openxmlformats.org/drawingml/2006/table">
            <a:tbl>
              <a:tblPr/>
              <a:tblGrid>
                <a:gridCol w="1180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1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Mid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Assignment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1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1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1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Q4/Q5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1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Q5/Q6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11">
            <a:extLst>
              <a:ext uri="{FF2B5EF4-FFF2-40B4-BE49-F238E27FC236}">
                <a16:creationId xmlns:a16="http://schemas.microsoft.com/office/drawing/2014/main" id="{7AE42364-3266-0575-8A77-11BC93F9596A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Assessment in Lab Courses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141129"/>
            <a:ext cx="10698480" cy="5148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Not as simple as theory courses.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Assessment components may vary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Mid/Final exam (quiz)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Software/Hardware test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Report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Viva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Presentation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Individual/group project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Weekly programming or hardware assignments.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No need to bring everything into CO assessment.</a:t>
            </a: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0658BDB-4051-1404-AA73-3589A5D1F800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Assessment in Lab Courses: Suitable POs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346689"/>
              </p:ext>
            </p:extLst>
          </p:nvPr>
        </p:nvGraphicFramePr>
        <p:xfrm>
          <a:off x="1005840" y="1508760"/>
          <a:ext cx="10149840" cy="35661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Assessment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PO4: Investigation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Software / hardware open-ended projects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PO5: Modern Tool Usage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Tools taught in lab classes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PO8: Individual and Team Work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 projects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PO9: Communication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Viva, project presentation through slides, posters, written reports etc.</a:t>
                      </a:r>
                      <a:endParaRPr lang="en-US" sz="2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3C77F9EB-5B73-8E7C-4A99-40C567E998F7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5635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of CO Assessment in a Lab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308414"/>
              </p:ext>
            </p:extLst>
          </p:nvPr>
        </p:nvGraphicFramePr>
        <p:xfrm>
          <a:off x="347472" y="1170432"/>
          <a:ext cx="11539728" cy="5166530"/>
        </p:xfrm>
        <a:graphic>
          <a:graphicData uri="http://schemas.openxmlformats.org/drawingml/2006/table">
            <a:tbl>
              <a:tblPr/>
              <a:tblGrid>
                <a:gridCol w="576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6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86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45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Description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K/P/A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Bloom’s level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Delivery Methods / Activities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Assessment Tools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00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Analyze behavior/response of electronic circuits using modern tools.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K3, P1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Cognitive / Apply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Circuit simulation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Circuit implementation using discrete components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Real-life problem solving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Pre-lab assessment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 performance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Mid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Demonstration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 and implement electronic circuits meeting specific requirements.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PO3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K3, K5, P1, P2, P3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Cognitive / Apply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Term project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demonstration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Prepare and present a technical report.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PO9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A1, A2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Psychomotor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collection using computer software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writing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 report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report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Presentation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individually and in a group to complete a project.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PO8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Affective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Term project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 activities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demonstration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491BC229-6A58-27D7-2209-DBDBD3DA0A64}"/>
              </a:ext>
            </a:extLst>
          </p:cNvPr>
          <p:cNvSpPr/>
          <p:nvPr/>
        </p:nvSpPr>
        <p:spPr>
          <a:xfrm>
            <a:off x="371355" y="1057156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of CO Assessment in a Lab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633586"/>
              </p:ext>
            </p:extLst>
          </p:nvPr>
        </p:nvGraphicFramePr>
        <p:xfrm>
          <a:off x="1005840" y="1600200"/>
          <a:ext cx="10241280" cy="3358896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52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Assessment Item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Marks Allocated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PO10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8753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class participation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report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Mid-term evaluation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E9D212FC-63EE-E8CC-BACC-06B82CDC00EE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Rubrics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402376"/>
              </p:ext>
            </p:extLst>
          </p:nvPr>
        </p:nvGraphicFramePr>
        <p:xfrm>
          <a:off x="731520" y="1453896"/>
          <a:ext cx="10744200" cy="4590288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Practice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(should be avoided)</a:t>
                      </a:r>
                      <a:endParaRPr lang="en-US" sz="2000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Rubric-Based Practice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clear marking scheme for project, presentation, viva or report.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Provides a clear breakdown for project, presentation, viva, report and similar tasks.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Marks may be based only on overall impression, e.g., 8/9 for good work and 4/5 for unfinished work.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Provides transparent criteria and performance levels.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Students may not know exactly what is expected.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Informs students </a:t>
                      </a: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‘What We Want’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from</a:t>
                      </a: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them </a:t>
                      </a: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presentations, projects and reports.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Often difficult to justify marks consistently.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Mainly useful for labs or theory courses with project/presentation components.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EEF63D41-524C-8FA1-F0BC-2580079710F0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of Rubrics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69848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Rubrics are required for the following assessments: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Report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Viva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Presentation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Individual / group project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Project report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02A43"/>
                </a:solidFill>
              </a:rPr>
              <a:t>• Weekly programming / hardware assignments</a:t>
            </a: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C62FA78-B604-C1D9-9A03-79AC8135D667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55691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Rubrics of a Lab Project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032610"/>
              </p:ext>
            </p:extLst>
          </p:nvPr>
        </p:nvGraphicFramePr>
        <p:xfrm>
          <a:off x="502920" y="1105676"/>
          <a:ext cx="11449594" cy="5377542"/>
        </p:xfrm>
        <a:graphic>
          <a:graphicData uri="http://schemas.openxmlformats.org/drawingml/2006/table">
            <a:tbl>
              <a:tblPr/>
              <a:tblGrid>
                <a:gridCol w="223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4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Assessment Item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CO/PO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Criteria / Remarks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K/P/A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Abstract submission (10)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CO1-PO2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Submit on time; penalties will incur if there is delay in submission.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K3, K8, P1, P2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Breadboard demonstration (20)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CO2-PO3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works according to proposal in breadboard.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K5, P2, P3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Veroboard demonstration (20)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CO2-PO3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works according to proposal in veroboard.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K5, P2, P3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Individual viva </a:t>
                      </a: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(10)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CO4-PO8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Questions on theory and implementation asked individually.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K5, K8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Presentation (10)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CO3-PO9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Individual presentation skill judged.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A1, A2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(10)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CO3-PO9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Title page; Introduction &amp; Conclusion (2); Description (2); Circuit diagram &amp; Explanation (2); Simulation Results (2); Picture of Project (1); Results from Project (1).</a:t>
                      </a:r>
                      <a:endParaRPr lang="en-US" sz="2000" b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A1</a:t>
                      </a: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(Project Description)</a:t>
                      </a: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</a:t>
                      </a: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(Circuit Diagram &amp; Explanation)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ADF94C29-B73E-14EF-A216-2274703CE985}"/>
              </a:ext>
            </a:extLst>
          </p:cNvPr>
          <p:cNvSpPr/>
          <p:nvPr/>
        </p:nvSpPr>
        <p:spPr>
          <a:xfrm>
            <a:off x="529978" y="1019831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of CO Attainments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698480" cy="295500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02A43"/>
                </a:solidFill>
              </a:rPr>
              <a:t>• </a:t>
            </a:r>
            <a:r>
              <a:rPr lang="en-US" sz="2400" b="1" dirty="0">
                <a:solidFill>
                  <a:srgbClr val="102A43"/>
                </a:solidFill>
              </a:rPr>
              <a:t>SAR Template, ACC-TMP-04-04-V3-F, 2.4 Assessment of Course Outcomes: </a:t>
            </a:r>
            <a:r>
              <a:rPr lang="en-US" sz="2400" dirty="0">
                <a:solidFill>
                  <a:srgbClr val="102A43"/>
                </a:solidFill>
              </a:rPr>
              <a:t>Describe how CO attainment is assessed in each course, including rubrics where applicable.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102A43"/>
                </a:solidFill>
              </a:rPr>
              <a:t>assessment processes, attainment criteria, scale, and expected level of attainment should be clearly stated.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02A43"/>
                </a:solidFill>
              </a:rPr>
              <a:t>• Attainment criteria and scale must be defined.</a:t>
            </a: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17920FE-33A4-A186-8606-15D020D2E540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of CO Attainments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F145D2-F70F-C836-C8E9-681B0FCF53EB}"/>
              </a:ext>
            </a:extLst>
          </p:cNvPr>
          <p:cNvGrpSpPr/>
          <p:nvPr/>
        </p:nvGrpSpPr>
        <p:grpSpPr>
          <a:xfrm>
            <a:off x="743712" y="2112263"/>
            <a:ext cx="5166360" cy="3951515"/>
            <a:chOff x="731520" y="1325879"/>
            <a:chExt cx="5166360" cy="3951515"/>
          </a:xfrm>
        </p:grpSpPr>
        <p:sp>
          <p:nvSpPr>
            <p:cNvPr id="9" name="Shape 7"/>
            <p:cNvSpPr/>
            <p:nvPr/>
          </p:nvSpPr>
          <p:spPr>
            <a:xfrm>
              <a:off x="731520" y="1345474"/>
              <a:ext cx="5166360" cy="393192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3970">
              <a:solidFill>
                <a:srgbClr val="0E7C8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731520" y="1325879"/>
              <a:ext cx="5166360" cy="530351"/>
            </a:xfrm>
            <a:prstGeom prst="rect">
              <a:avLst/>
            </a:prstGeom>
            <a:solidFill>
              <a:srgbClr val="0E7C86"/>
            </a:solidFill>
            <a:ln w="12700">
              <a:solidFill>
                <a:srgbClr val="0E7C8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841248" y="1399032"/>
              <a:ext cx="494690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Individual Student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68680" y="2194558"/>
              <a:ext cx="4892040" cy="306324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- Needed for PO attainment calculation.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- Program sets the criterion.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- </a:t>
              </a:r>
              <a:r>
                <a:rPr lang="en-US" sz="2400" b="1" dirty="0">
                  <a:solidFill>
                    <a:srgbClr val="102A43"/>
                  </a:solidFill>
                </a:rPr>
                <a:t>Example: </a:t>
              </a:r>
              <a:r>
                <a:rPr lang="en-US" sz="2400" dirty="0">
                  <a:solidFill>
                    <a:srgbClr val="102A43"/>
                  </a:solidFill>
                </a:rPr>
                <a:t>if a student receives 55% </a:t>
              </a: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(set by Program)</a:t>
              </a:r>
              <a:r>
                <a:rPr lang="en-US" sz="2400" dirty="0">
                  <a:solidFill>
                    <a:srgbClr val="102A43"/>
                  </a:solidFill>
                </a:rPr>
                <a:t> of marks assigned for a CO in a course, the student attains that CO.</a:t>
              </a:r>
              <a:endParaRPr lang="en-US" sz="2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155559-A198-3E2A-53DA-71F5FC9FABE7}"/>
              </a:ext>
            </a:extLst>
          </p:cNvPr>
          <p:cNvGrpSpPr/>
          <p:nvPr/>
        </p:nvGrpSpPr>
        <p:grpSpPr>
          <a:xfrm>
            <a:off x="6419088" y="2112264"/>
            <a:ext cx="5166360" cy="3931920"/>
            <a:chOff x="6309360" y="1325880"/>
            <a:chExt cx="5166360" cy="3931920"/>
          </a:xfrm>
        </p:grpSpPr>
        <p:sp>
          <p:nvSpPr>
            <p:cNvPr id="13" name="Shape 11"/>
            <p:cNvSpPr/>
            <p:nvPr/>
          </p:nvSpPr>
          <p:spPr>
            <a:xfrm>
              <a:off x="6309360" y="1325880"/>
              <a:ext cx="5166360" cy="393192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6309360" y="1325880"/>
              <a:ext cx="5166360" cy="530350"/>
            </a:xfrm>
            <a:prstGeom prst="rect">
              <a:avLst/>
            </a:prstGeom>
            <a:solidFill>
              <a:srgbClr val="F2B441"/>
            </a:solidFill>
            <a:ln w="1270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19088" y="1399032"/>
              <a:ext cx="494690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Course Level</a:t>
              </a:r>
              <a:endParaRPr lang="en-US" sz="2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446520" y="1892807"/>
              <a:ext cx="4892040" cy="3099817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endParaRPr lang="en-US" sz="20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- Needed for course-level CQI.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- Program sets the criterion.</a:t>
              </a:r>
              <a:endParaRPr lang="en-US" sz="2400" dirty="0"/>
            </a:p>
            <a:p>
              <a:r>
                <a:rPr lang="en-US" sz="2400" dirty="0">
                  <a:solidFill>
                    <a:srgbClr val="102A43"/>
                  </a:solidFill>
                </a:rPr>
                <a:t>- </a:t>
              </a:r>
              <a:r>
                <a:rPr lang="en-US" sz="2400" b="1" dirty="0">
                  <a:solidFill>
                    <a:srgbClr val="102A43"/>
                  </a:solidFill>
                </a:rPr>
                <a:t>Example: </a:t>
              </a:r>
              <a:r>
                <a:rPr lang="en-US" sz="2400" dirty="0">
                  <a:solidFill>
                    <a:srgbClr val="102A43"/>
                  </a:solidFill>
                </a:rPr>
                <a:t>if 50% </a:t>
              </a: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(set by Program) </a:t>
              </a:r>
              <a:r>
                <a:rPr lang="en-US" sz="2400" dirty="0">
                  <a:solidFill>
                    <a:srgbClr val="102A43"/>
                  </a:solidFill>
                </a:rPr>
                <a:t>of students in a course attain a CO, that CO is attained for the course.</a:t>
              </a:r>
              <a:endParaRPr lang="en-US" sz="2400" dirty="0"/>
            </a:p>
          </p:txBody>
        </p:sp>
      </p:grpSp>
      <p:sp>
        <p:nvSpPr>
          <p:cNvPr id="18" name="Shape 11">
            <a:extLst>
              <a:ext uri="{FF2B5EF4-FFF2-40B4-BE49-F238E27FC236}">
                <a16:creationId xmlns:a16="http://schemas.microsoft.com/office/drawing/2014/main" id="{7136B798-675F-F9C1-085D-E228DB08B7CA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4E4DACC2-0119-95E1-9A2B-61ECF767A9A8}"/>
              </a:ext>
            </a:extLst>
          </p:cNvPr>
          <p:cNvSpPr/>
          <p:nvPr/>
        </p:nvSpPr>
        <p:spPr>
          <a:xfrm>
            <a:off x="777240" y="1338757"/>
            <a:ext cx="106984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02A43"/>
                </a:solidFill>
              </a:rPr>
              <a:t>How to determine that a CO is attained for an individual student and for a course?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Attainment Example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544" y="1232387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Assigned marks: 100 for each CO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396538"/>
              </p:ext>
            </p:extLst>
          </p:nvPr>
        </p:nvGraphicFramePr>
        <p:xfrm>
          <a:off x="317241" y="1576868"/>
          <a:ext cx="6888229" cy="4754880"/>
        </p:xfrm>
        <a:graphic>
          <a:graphicData uri="http://schemas.openxmlformats.org/drawingml/2006/table">
            <a:tbl>
              <a:tblPr/>
              <a:tblGrid>
                <a:gridCol w="1567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7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A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B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56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C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D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F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G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H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69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I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69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J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attained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81E8EE19-1779-F8FE-247E-1C0DDF1EF47B}"/>
              </a:ext>
            </a:extLst>
          </p:cNvPr>
          <p:cNvGrpSpPr/>
          <p:nvPr/>
        </p:nvGrpSpPr>
        <p:grpSpPr>
          <a:xfrm>
            <a:off x="7360920" y="4075938"/>
            <a:ext cx="4023360" cy="2011680"/>
            <a:chOff x="7452360" y="1965960"/>
            <a:chExt cx="4023360" cy="2011680"/>
          </a:xfrm>
        </p:grpSpPr>
        <p:sp>
          <p:nvSpPr>
            <p:cNvPr id="11" name="Shape 8"/>
            <p:cNvSpPr/>
            <p:nvPr/>
          </p:nvSpPr>
          <p:spPr>
            <a:xfrm>
              <a:off x="7452360" y="1965960"/>
              <a:ext cx="4023360" cy="2011680"/>
            </a:xfrm>
            <a:prstGeom prst="roundRect">
              <a:avLst>
                <a:gd name="adj" fmla="val 3636"/>
              </a:avLst>
            </a:prstGeom>
            <a:solidFill>
              <a:srgbClr val="FFF4D6"/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7452360" y="1965960"/>
              <a:ext cx="4023360" cy="320040"/>
            </a:xfrm>
            <a:prstGeom prst="rect">
              <a:avLst/>
            </a:prstGeom>
            <a:solidFill>
              <a:srgbClr val="F2B441"/>
            </a:solidFill>
            <a:ln w="1270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7562088" y="2039112"/>
              <a:ext cx="380390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Criterion 2: Course Level </a:t>
              </a:r>
              <a:endParaRPr lang="en-US" sz="20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7589520" y="2441448"/>
              <a:ext cx="3749040" cy="144475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02A43"/>
                  </a:solidFill>
                </a:rPr>
                <a:t>If 50% of students attaining a CO means that CO for the course is attained.</a:t>
              </a:r>
              <a:endParaRPr lang="en-US" sz="20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049E3B-CC27-8C01-CB1C-0A7DDDEEBCEB}"/>
              </a:ext>
            </a:extLst>
          </p:cNvPr>
          <p:cNvGrpSpPr/>
          <p:nvPr/>
        </p:nvGrpSpPr>
        <p:grpSpPr>
          <a:xfrm>
            <a:off x="7360920" y="1709928"/>
            <a:ext cx="4023360" cy="2011680"/>
            <a:chOff x="7452360" y="1965960"/>
            <a:chExt cx="4023360" cy="2011680"/>
          </a:xfrm>
        </p:grpSpPr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ABF4FE00-6C73-9A01-44EF-5FD6198E8443}"/>
                </a:ext>
              </a:extLst>
            </p:cNvPr>
            <p:cNvSpPr/>
            <p:nvPr/>
          </p:nvSpPr>
          <p:spPr>
            <a:xfrm>
              <a:off x="7452360" y="1965960"/>
              <a:ext cx="4023360" cy="2011680"/>
            </a:xfrm>
            <a:prstGeom prst="roundRect">
              <a:avLst>
                <a:gd name="adj" fmla="val 363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69016E0F-9518-252E-9A25-89ED3BC265A9}"/>
                </a:ext>
              </a:extLst>
            </p:cNvPr>
            <p:cNvSpPr/>
            <p:nvPr/>
          </p:nvSpPr>
          <p:spPr>
            <a:xfrm>
              <a:off x="7452360" y="1965960"/>
              <a:ext cx="4023360" cy="320040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EED96345-31F8-2BAD-F146-1391F3E0A10C}"/>
                </a:ext>
              </a:extLst>
            </p:cNvPr>
            <p:cNvSpPr/>
            <p:nvPr/>
          </p:nvSpPr>
          <p:spPr>
            <a:xfrm>
              <a:off x="7562088" y="2039112"/>
              <a:ext cx="380390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Criterion 1: Individual Student</a:t>
              </a:r>
              <a:endParaRPr lang="en-US" sz="2000" dirty="0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950C38D8-F2E6-BBE8-AF53-9503366A6AC7}"/>
                </a:ext>
              </a:extLst>
            </p:cNvPr>
            <p:cNvSpPr/>
            <p:nvPr/>
          </p:nvSpPr>
          <p:spPr>
            <a:xfrm>
              <a:off x="7589520" y="2441448"/>
              <a:ext cx="3749040" cy="144475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rgbClr val="102A43"/>
                  </a:solidFill>
                </a:rPr>
                <a:t>If a student attains 55% of the total marks assigned to a particular CO,  that CO is attained.</a:t>
              </a:r>
              <a:endParaRPr lang="en-US" sz="2000" b="1" dirty="0"/>
            </a:p>
          </p:txBody>
        </p:sp>
      </p:grpSp>
      <p:sp>
        <p:nvSpPr>
          <p:cNvPr id="22" name="Shape 11">
            <a:extLst>
              <a:ext uri="{FF2B5EF4-FFF2-40B4-BE49-F238E27FC236}">
                <a16:creationId xmlns:a16="http://schemas.microsoft.com/office/drawing/2014/main" id="{BD2F9C7E-DA49-83F2-C1FC-1CEA50E25CBB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051560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1. Directives on Outcome Attainment in BAETE Manual and SAR Template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2. CO Attainment</a:t>
            </a:r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3. PO Attainment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4. PEO Attainment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5. Continuous Quality Improvement (CQI)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6. Summary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189E69-7F46-5002-BE71-AC0E809C974B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POs: CEP and CEA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70668"/>
              </p:ext>
            </p:extLst>
          </p:nvPr>
        </p:nvGraphicFramePr>
        <p:xfrm>
          <a:off x="2864499" y="1216159"/>
          <a:ext cx="7654834" cy="5151120"/>
        </p:xfrm>
        <a:graphic>
          <a:graphicData uri="http://schemas.openxmlformats.org/drawingml/2006/table">
            <a:tbl>
              <a:tblPr/>
              <a:tblGrid>
                <a:gridCol w="7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8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Outcome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CEP / CEA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Engineering Knowledge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CEP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 Analysis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CEP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 / Development of Solutions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CEP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Investigation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CEP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Modern Tool Usage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CEP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Environment and Sustainability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CEP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Ethics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Individual and Team Work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Communication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Management and Finance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Life-Long Learning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Idea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11">
            <a:extLst>
              <a:ext uri="{FF2B5EF4-FFF2-40B4-BE49-F238E27FC236}">
                <a16:creationId xmlns:a16="http://schemas.microsoft.com/office/drawing/2014/main" id="{DFB970F3-5FD2-6C66-5D28-7F0D85CC0A84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of PO Attainment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6607" y="1033748"/>
            <a:ext cx="10698480" cy="55685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2300" dirty="0">
                <a:solidFill>
                  <a:srgbClr val="102A43"/>
                </a:solidFill>
              </a:rPr>
              <a:t>• </a:t>
            </a:r>
            <a:r>
              <a:rPr lang="en-US" sz="2300" b="1" dirty="0">
                <a:solidFill>
                  <a:srgbClr val="102A43"/>
                </a:solidFill>
              </a:rPr>
              <a:t>CEP is already embedded in the definition of some POs.</a:t>
            </a:r>
            <a:endParaRPr lang="en-US" sz="2300" b="1" dirty="0"/>
          </a:p>
          <a:p>
            <a:pPr marL="0" indent="0" algn="just">
              <a:buNone/>
            </a:pPr>
            <a:r>
              <a:rPr lang="en-US" sz="2300" dirty="0">
                <a:solidFill>
                  <a:srgbClr val="102A43"/>
                </a:solidFill>
              </a:rPr>
              <a:t>• </a:t>
            </a:r>
            <a:r>
              <a:rPr lang="en-US" sz="2300" b="1" dirty="0">
                <a:solidFill>
                  <a:srgbClr val="102A43"/>
                </a:solidFill>
              </a:rPr>
              <a:t>Example -</a:t>
            </a:r>
            <a:r>
              <a:rPr lang="en-US" sz="2300" dirty="0">
                <a:solidFill>
                  <a:srgbClr val="102A43"/>
                </a:solidFill>
              </a:rPr>
              <a:t> PO1: Apply knowledge of mathematics, natural science, engineering fundamentals and engineering specialization to solve complex engineering problems.</a:t>
            </a:r>
          </a:p>
          <a:p>
            <a:pPr marL="0" indent="0" algn="just">
              <a:buNone/>
            </a:pPr>
            <a:endParaRPr lang="en-US" sz="2300" dirty="0"/>
          </a:p>
          <a:p>
            <a:pPr algn="just"/>
            <a:r>
              <a:rPr lang="en-US" sz="2300" dirty="0">
                <a:solidFill>
                  <a:srgbClr val="102A43"/>
                </a:solidFill>
              </a:rPr>
              <a:t>• </a:t>
            </a:r>
            <a:r>
              <a:rPr lang="en-US" sz="2300" b="1" dirty="0">
                <a:solidFill>
                  <a:srgbClr val="102A43"/>
                </a:solidFill>
              </a:rPr>
              <a:t>SAR Template, ACC-TMP-04-04-V3-F, 2.7.1 Attainment of PO1 or its Equivalent:</a:t>
            </a:r>
            <a:r>
              <a:rPr lang="en-US" sz="2300" dirty="0">
                <a:solidFill>
                  <a:srgbClr val="102A43"/>
                </a:solidFill>
              </a:rPr>
              <a:t> Describe how PO1 or its equivalent is assessed and evaluated.</a:t>
            </a:r>
            <a:endParaRPr lang="en-US" sz="23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rgbClr val="102A43"/>
                </a:solidFill>
              </a:rPr>
              <a:t>State and justify methods, tools, criteria and scale used in assessment process.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rgbClr val="102A43"/>
                </a:solidFill>
              </a:rPr>
              <a:t>State how WKs are incorporated (K1-K4)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rgbClr val="102A43"/>
                </a:solidFill>
              </a:rPr>
              <a:t>identify which CEP (P1-P4)  are addressed through the attainment of PO1 and provide supporting evidence.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rgbClr val="102A43"/>
                </a:solidFill>
              </a:rPr>
              <a:t>Present a summary of results obtained after the assessment and analysis to demonstrate the extent to which PO1 is being attained.</a:t>
            </a:r>
            <a:endParaRPr lang="en-US" sz="23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FBB2846-1F03-1FC3-D8A3-FFCA208F6EBE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Demonstrating Attainment of CEP and CEA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69591" y="1292662"/>
            <a:ext cx="9868057" cy="49651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102A43"/>
                </a:solidFill>
              </a:rPr>
              <a:t>• For POs with CEP/CEA in their definition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Demonstrate PO attainment through CEP/CEA evidence</a:t>
            </a:r>
          </a:p>
          <a:p>
            <a:pPr lvl="1" algn="just"/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solidFill>
                  <a:srgbClr val="102A43"/>
                </a:solidFill>
              </a:rPr>
              <a:t>• Different assessment tools can be used: 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Project in lab/theory courses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Assignment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Presentation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Report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Final exam question</a:t>
            </a:r>
          </a:p>
          <a:p>
            <a:pPr lvl="1" algn="just"/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solidFill>
                  <a:srgbClr val="102A43"/>
                </a:solidFill>
              </a:rPr>
              <a:t>• Assessment tools used to assess these POs must be demonstrated as CEP/CEA through proper mappings</a:t>
            </a:r>
            <a:r>
              <a:rPr lang="en-US" sz="2000" dirty="0">
                <a:solidFill>
                  <a:srgbClr val="102A43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21095434-FD09-1E5D-C336-D807E92B216B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Things to Consider before the Assessment of PO Attainments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698480" cy="31042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SAR Template, ACC-TMP-04-04-V3-F, 2.7 Attainment of Program Outcomes: 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Provide a summary of the results of the attainment of program outcomes for the most recent graduating cohort, whose attainment was measured.</a:t>
            </a:r>
            <a:endParaRPr lang="en-US" sz="28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5C2C506-A475-B783-BB88-59E479EE4935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Things to Consider before the Assessment of PO Attainments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39"/>
            <a:ext cx="11018520" cy="50851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/>
              <a:t>Fix the definition of cohort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Trivial for fixed-credit programs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Graduating/entry semester can be used for open-credit programs</a:t>
            </a:r>
          </a:p>
          <a:p>
            <a:pPr lvl="1"/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Use a robust, scalable system</a:t>
            </a:r>
            <a:r>
              <a:rPr lang="en-US" sz="2800" dirty="0">
                <a:solidFill>
                  <a:srgbClr val="102A43"/>
                </a:solidFill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Use Excel files or software (if available)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Prepare Excel file with detailed formulas</a:t>
            </a:r>
          </a:p>
          <a:p>
            <a:pPr lvl="1"/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Course Selection to show attainment of all 12 POs</a:t>
            </a:r>
            <a:endParaRPr lang="en-US" sz="28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Final Year Design Project/Capstone may be selected, but relying on it alone is not easy; include more courses</a:t>
            </a:r>
            <a:endParaRPr lang="en-US" sz="28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Third-year and final-year courses are usually more suitable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9232646-4BF3-1ABA-A0A2-257949E22E0C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Things to Consider before the Assessment of PO Attainments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1018520" cy="5056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CO-PO mapping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One-to-one mapping is always easier to implement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Add more COs if needed to convert mapping into one-to-one</a:t>
            </a:r>
          </a:p>
          <a:p>
            <a:pPr lvl="1"/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Different weightages in CO-PO mapping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Introduce complicated calculations and are not always necessary</a:t>
            </a:r>
          </a:p>
          <a:p>
            <a:pPr lvl="1"/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Importance of Rubrics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Rubrics are very important, especially if a single assessment tool is used for multiple POs (e.g., a report used to assess multiple POs)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07CB67F-FC34-4F04-29FD-9B3C3CC2F3C5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of PO Attainments for PO(a)/PO1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303520" cy="4625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2600" b="1" dirty="0">
                <a:solidFill>
                  <a:srgbClr val="102A43"/>
                </a:solidFill>
              </a:rPr>
              <a:t>• PO attainment threshold must be defined.</a:t>
            </a:r>
            <a:endParaRPr lang="en-US" sz="2600" b="1" dirty="0"/>
          </a:p>
          <a:p>
            <a:pPr marL="0" indent="0" algn="just">
              <a:buNone/>
            </a:pPr>
            <a:r>
              <a:rPr lang="en-US" sz="2600" dirty="0">
                <a:solidFill>
                  <a:srgbClr val="102A43"/>
                </a:solidFill>
              </a:rPr>
              <a:t>• </a:t>
            </a:r>
            <a:r>
              <a:rPr lang="en-US" sz="2600" b="1" dirty="0">
                <a:solidFill>
                  <a:srgbClr val="102A43"/>
                </a:solidFill>
              </a:rPr>
              <a:t>Example: </a:t>
            </a:r>
            <a:r>
              <a:rPr lang="en-US" sz="2600" dirty="0">
                <a:solidFill>
                  <a:srgbClr val="102A43"/>
                </a:solidFill>
              </a:rPr>
              <a:t>if a student gets 50% or more, then the PO is considered attained.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• A simple equal-level model is easier to manage.</a:t>
            </a:r>
          </a:p>
          <a:p>
            <a:pPr marL="0" indent="0" algn="just">
              <a:buNone/>
            </a:pPr>
            <a:r>
              <a:rPr lang="en-US" sz="2600" b="1" dirty="0">
                <a:solidFill>
                  <a:srgbClr val="FF0000"/>
                </a:solidFill>
              </a:rPr>
              <a:t>• Using a complex weighted model requires additional complexity in curriculum design and PO assessment.</a:t>
            </a:r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847045"/>
              </p:ext>
            </p:extLst>
          </p:nvPr>
        </p:nvGraphicFramePr>
        <p:xfrm>
          <a:off x="6309360" y="1417319"/>
          <a:ext cx="3833016" cy="2011675"/>
        </p:xfrm>
        <a:graphic>
          <a:graphicData uri="http://schemas.openxmlformats.org/drawingml/2006/table">
            <a:tbl>
              <a:tblPr/>
              <a:tblGrid>
                <a:gridCol w="127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Course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Domain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3325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3325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3214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4135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20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518911"/>
              </p:ext>
            </p:extLst>
          </p:nvPr>
        </p:nvGraphicFramePr>
        <p:xfrm>
          <a:off x="6355079" y="3685033"/>
          <a:ext cx="4328473" cy="2032770"/>
        </p:xfrm>
        <a:graphic>
          <a:graphicData uri="http://schemas.openxmlformats.org/drawingml/2006/table">
            <a:tbl>
              <a:tblPr/>
              <a:tblGrid>
                <a:gridCol w="1180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Course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Domain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Level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3325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3325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3214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 4135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8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10683552" y="1905043"/>
            <a:ext cx="954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</a:rPr>
              <a:t>Equal Level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882733" y="5744881"/>
            <a:ext cx="1273163" cy="22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441"/>
                </a:solidFill>
              </a:rPr>
              <a:t>Weighted Level</a:t>
            </a:r>
            <a:endParaRPr 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FE3DE-728D-A33A-7C0D-4A2F4F6F2F15}"/>
              </a:ext>
            </a:extLst>
          </p:cNvPr>
          <p:cNvSpPr txBox="1"/>
          <p:nvPr/>
        </p:nvSpPr>
        <p:spPr>
          <a:xfrm>
            <a:off x="10124648" y="2133643"/>
            <a:ext cx="20493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% of marks obtained in different COs is calculated considering equal level.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BDEAA1-DC0B-F9D4-1117-0E8DBF5AA530}"/>
              </a:ext>
            </a:extLst>
          </p:cNvPr>
          <p:cNvSpPr txBox="1"/>
          <p:nvPr/>
        </p:nvSpPr>
        <p:spPr>
          <a:xfrm>
            <a:off x="5522868" y="5899765"/>
            <a:ext cx="5992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% of marks obtained in different COs is calculated considering different levels. A higher level contributes more to calculating %.</a:t>
            </a: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F0259D4-7DE4-09CB-47C9-DC43FFA469E7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1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 Calculation (Example)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74625"/>
              </p:ext>
            </p:extLst>
          </p:nvPr>
        </p:nvGraphicFramePr>
        <p:xfrm>
          <a:off x="822960" y="1463039"/>
          <a:ext cx="6583680" cy="3090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25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ptos" charset="0"/>
                          <a:ea typeface="Aptos" charset="0"/>
                          <a:cs typeface="Aptos" charset="0"/>
                        </a:rPr>
                        <a:t>Course</a:t>
                      </a: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CO-PO Mapping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Course 1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CO1-PO1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CO2-PO3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CO3-PO5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CO4-PO9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Course 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CO1-PO1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CO2-PO2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CO3-PO4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CO4-PO8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Course 3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CO1-PO1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CO2-PO3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CO3-PO6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CO4-PO10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969D3940-78CD-C272-F936-2962EF7546F3}"/>
              </a:ext>
            </a:extLst>
          </p:cNvPr>
          <p:cNvGrpSpPr/>
          <p:nvPr/>
        </p:nvGrpSpPr>
        <p:grpSpPr>
          <a:xfrm>
            <a:off x="1324947" y="4626480"/>
            <a:ext cx="9919125" cy="1682876"/>
            <a:chOff x="7726680" y="1508760"/>
            <a:chExt cx="3474720" cy="2377440"/>
          </a:xfrm>
        </p:grpSpPr>
        <p:sp>
          <p:nvSpPr>
            <p:cNvPr id="10" name="Shape 7"/>
            <p:cNvSpPr/>
            <p:nvPr/>
          </p:nvSpPr>
          <p:spPr>
            <a:xfrm>
              <a:off x="7726680" y="1508760"/>
              <a:ext cx="3474720" cy="237744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7863840" y="1534442"/>
              <a:ext cx="3200400" cy="211993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/>
            </a:bodyPr>
            <a:lstStyle/>
            <a:p>
              <a:pPr marL="0" indent="0">
                <a:buNone/>
              </a:pPr>
              <a:endParaRPr lang="en-US" sz="1500" dirty="0"/>
            </a:p>
            <a:p>
              <a:pPr marL="0" indent="0" algn="ctr">
                <a:buNone/>
              </a:pPr>
              <a:r>
                <a:rPr lang="en-US" sz="2800" b="1" dirty="0">
                  <a:solidFill>
                    <a:srgbClr val="102A43"/>
                  </a:solidFill>
                </a:rPr>
                <a:t>Criterion for PO attainment</a:t>
              </a:r>
            </a:p>
            <a:p>
              <a:pPr marL="0" indent="0" algn="ctr">
                <a:buNone/>
              </a:pPr>
              <a:r>
                <a:rPr lang="en-US" sz="2800" dirty="0">
                  <a:solidFill>
                    <a:srgbClr val="102A43"/>
                  </a:solidFill>
                </a:rPr>
                <a:t>If the PO assessment score is greater than 50%, the PO is attained. </a:t>
              </a:r>
              <a:r>
                <a:rPr lang="en-US" sz="2800" b="1" dirty="0">
                  <a:solidFill>
                    <a:srgbClr val="102A43"/>
                  </a:solidFill>
                </a:rPr>
                <a:t>The actual criterion should be set by the program</a:t>
              </a:r>
              <a:r>
                <a:rPr lang="en-US" sz="2800" dirty="0">
                  <a:solidFill>
                    <a:srgbClr val="102A43"/>
                  </a:solidFill>
                </a:rPr>
                <a:t>.</a:t>
              </a:r>
              <a:endParaRPr lang="en-US" sz="28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2ADD90-7757-9CF0-67BF-6563F065548C}"/>
              </a:ext>
            </a:extLst>
          </p:cNvPr>
          <p:cNvGrpSpPr/>
          <p:nvPr/>
        </p:nvGrpSpPr>
        <p:grpSpPr>
          <a:xfrm>
            <a:off x="7879080" y="1661160"/>
            <a:ext cx="3474720" cy="2377440"/>
            <a:chOff x="7726680" y="1508760"/>
            <a:chExt cx="3474720" cy="2377440"/>
          </a:xfrm>
        </p:grpSpPr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E1F3B9E6-01F7-192B-15EB-D059248A9CB2}"/>
                </a:ext>
              </a:extLst>
            </p:cNvPr>
            <p:cNvSpPr/>
            <p:nvPr/>
          </p:nvSpPr>
          <p:spPr>
            <a:xfrm>
              <a:off x="7726680" y="1508760"/>
              <a:ext cx="3474720" cy="237744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8005B75D-D30E-ED88-8277-5035FAF7578B}"/>
                </a:ext>
              </a:extLst>
            </p:cNvPr>
            <p:cNvSpPr/>
            <p:nvPr/>
          </p:nvSpPr>
          <p:spPr>
            <a:xfrm>
              <a:off x="7726680" y="1508760"/>
              <a:ext cx="3474720" cy="475488"/>
            </a:xfrm>
            <a:prstGeom prst="rect">
              <a:avLst/>
            </a:prstGeom>
            <a:solidFill>
              <a:srgbClr val="F2B441"/>
            </a:solidFill>
            <a:ln w="1270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1532253C-0367-49BA-3F11-95A5CB28CAC3}"/>
                </a:ext>
              </a:extLst>
            </p:cNvPr>
            <p:cNvSpPr/>
            <p:nvPr/>
          </p:nvSpPr>
          <p:spPr>
            <a:xfrm>
              <a:off x="7836408" y="1581912"/>
              <a:ext cx="325526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Calculation</a:t>
              </a:r>
              <a:endParaRPr lang="en-US" sz="2400" dirty="0"/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5E482BB6-1160-A6AA-E1FE-1A2169FED8A8}"/>
                </a:ext>
              </a:extLst>
            </p:cNvPr>
            <p:cNvSpPr/>
            <p:nvPr/>
          </p:nvSpPr>
          <p:spPr>
            <a:xfrm>
              <a:off x="7863840" y="1984248"/>
              <a:ext cx="3200400" cy="181051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102A43"/>
                  </a:solidFill>
                </a:rPr>
                <a:t>Calculate PO1 attainment from courses 1, 2 and 3 for a cohort</a:t>
              </a:r>
              <a:endParaRPr lang="en-US" sz="2400" dirty="0"/>
            </a:p>
            <a:p>
              <a:pPr marL="0" indent="0">
                <a:buNone/>
              </a:pPr>
              <a:endParaRPr lang="en-US" sz="1500" dirty="0"/>
            </a:p>
          </p:txBody>
        </p:sp>
      </p:grpSp>
      <p:sp>
        <p:nvSpPr>
          <p:cNvPr id="20" name="Shape 11">
            <a:extLst>
              <a:ext uri="{FF2B5EF4-FFF2-40B4-BE49-F238E27FC236}">
                <a16:creationId xmlns:a16="http://schemas.microsoft.com/office/drawing/2014/main" id="{1DB6024D-127F-4B52-FBBD-BE873985DADC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 Calculation (Example)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4709160"/>
            <a:ext cx="97840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1508760"/>
            <a:ext cx="0" cy="320040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3140964"/>
            <a:ext cx="765048" cy="1568196"/>
          </a:xfrm>
          <a:prstGeom prst="rect">
            <a:avLst/>
          </a:prstGeom>
          <a:solidFill>
            <a:srgbClr val="C0392B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939796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49</a:t>
            </a:r>
            <a:endParaRPr lang="en-US" b="1" dirty="0"/>
          </a:p>
        </p:txBody>
      </p:sp>
      <p:sp>
        <p:nvSpPr>
          <p:cNvPr id="13" name="Text 11"/>
          <p:cNvSpPr/>
          <p:nvPr/>
        </p:nvSpPr>
        <p:spPr>
          <a:xfrm>
            <a:off x="1088136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PO1</a:t>
            </a:r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1917192" y="2788920"/>
            <a:ext cx="765048" cy="1920240"/>
          </a:xfrm>
          <a:prstGeom prst="rect">
            <a:avLst/>
          </a:prstGeom>
          <a:solidFill>
            <a:srgbClr val="0E7C86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17192" y="2587752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60</a:t>
            </a:r>
            <a:endParaRPr lang="en-US" b="1" dirty="0"/>
          </a:p>
        </p:txBody>
      </p:sp>
      <p:sp>
        <p:nvSpPr>
          <p:cNvPr id="16" name="Text 14"/>
          <p:cNvSpPr/>
          <p:nvPr/>
        </p:nvSpPr>
        <p:spPr>
          <a:xfrm>
            <a:off x="1908048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PO2</a:t>
            </a:r>
            <a:endParaRPr lang="en-US" b="1" dirty="0"/>
          </a:p>
        </p:txBody>
      </p:sp>
      <p:sp>
        <p:nvSpPr>
          <p:cNvPr id="17" name="Shape 15"/>
          <p:cNvSpPr/>
          <p:nvPr/>
        </p:nvSpPr>
        <p:spPr>
          <a:xfrm>
            <a:off x="2737104" y="2596896"/>
            <a:ext cx="765048" cy="2112264"/>
          </a:xfrm>
          <a:prstGeom prst="rect">
            <a:avLst/>
          </a:prstGeom>
          <a:solidFill>
            <a:srgbClr val="F2B44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37104" y="2395728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66</a:t>
            </a:r>
            <a:endParaRPr lang="en-US" b="1" dirty="0"/>
          </a:p>
        </p:txBody>
      </p:sp>
      <p:sp>
        <p:nvSpPr>
          <p:cNvPr id="19" name="Text 17"/>
          <p:cNvSpPr/>
          <p:nvPr/>
        </p:nvSpPr>
        <p:spPr>
          <a:xfrm>
            <a:off x="2727960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PO3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3557016" y="1508760"/>
            <a:ext cx="765048" cy="3200400"/>
          </a:xfrm>
          <a:prstGeom prst="rect">
            <a:avLst/>
          </a:prstGeom>
          <a:solidFill>
            <a:srgbClr val="00B0F0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57016" y="1307592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100</a:t>
            </a:r>
            <a:endParaRPr lang="en-US" b="1" dirty="0"/>
          </a:p>
        </p:txBody>
      </p:sp>
      <p:sp>
        <p:nvSpPr>
          <p:cNvPr id="22" name="Text 20"/>
          <p:cNvSpPr/>
          <p:nvPr/>
        </p:nvSpPr>
        <p:spPr>
          <a:xfrm>
            <a:off x="3547872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PO4</a:t>
            </a:r>
            <a:endParaRPr lang="en-US" b="1" dirty="0"/>
          </a:p>
        </p:txBody>
      </p:sp>
      <p:sp>
        <p:nvSpPr>
          <p:cNvPr id="23" name="Shape 21"/>
          <p:cNvSpPr/>
          <p:nvPr/>
        </p:nvSpPr>
        <p:spPr>
          <a:xfrm>
            <a:off x="4376928" y="2884932"/>
            <a:ext cx="765048" cy="182422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76928" y="2683764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57</a:t>
            </a:r>
            <a:endParaRPr lang="en-US" b="1" dirty="0"/>
          </a:p>
        </p:txBody>
      </p:sp>
      <p:sp>
        <p:nvSpPr>
          <p:cNvPr id="25" name="Text 23"/>
          <p:cNvSpPr/>
          <p:nvPr/>
        </p:nvSpPr>
        <p:spPr>
          <a:xfrm>
            <a:off x="4367784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PO5</a:t>
            </a:r>
            <a:endParaRPr lang="en-US" b="1" dirty="0"/>
          </a:p>
        </p:txBody>
      </p:sp>
      <p:sp>
        <p:nvSpPr>
          <p:cNvPr id="26" name="Shape 24"/>
          <p:cNvSpPr/>
          <p:nvPr/>
        </p:nvSpPr>
        <p:spPr>
          <a:xfrm>
            <a:off x="5196840" y="3044952"/>
            <a:ext cx="765048" cy="1664208"/>
          </a:xfrm>
          <a:prstGeom prst="rect">
            <a:avLst/>
          </a:prstGeom>
          <a:solidFill>
            <a:schemeClr val="bg2">
              <a:lumMod val="50000"/>
            </a:schemeClr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6840" y="2843784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52</a:t>
            </a:r>
            <a:endParaRPr lang="en-US" b="1" dirty="0"/>
          </a:p>
        </p:txBody>
      </p:sp>
      <p:sp>
        <p:nvSpPr>
          <p:cNvPr id="28" name="Text 26"/>
          <p:cNvSpPr/>
          <p:nvPr/>
        </p:nvSpPr>
        <p:spPr>
          <a:xfrm>
            <a:off x="5187696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PO6</a:t>
            </a:r>
            <a:endParaRPr lang="en-US" b="1" dirty="0"/>
          </a:p>
        </p:txBody>
      </p:sp>
      <p:sp>
        <p:nvSpPr>
          <p:cNvPr id="29" name="Shape 27"/>
          <p:cNvSpPr/>
          <p:nvPr/>
        </p:nvSpPr>
        <p:spPr>
          <a:xfrm>
            <a:off x="6016752" y="1508760"/>
            <a:ext cx="765048" cy="3200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16752" y="1307592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100</a:t>
            </a:r>
            <a:endParaRPr lang="en-US" b="1" dirty="0"/>
          </a:p>
        </p:txBody>
      </p:sp>
      <p:sp>
        <p:nvSpPr>
          <p:cNvPr id="31" name="Text 29"/>
          <p:cNvSpPr/>
          <p:nvPr/>
        </p:nvSpPr>
        <p:spPr>
          <a:xfrm>
            <a:off x="6007608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PO7</a:t>
            </a:r>
            <a:endParaRPr lang="en-US" b="1" dirty="0"/>
          </a:p>
        </p:txBody>
      </p:sp>
      <p:sp>
        <p:nvSpPr>
          <p:cNvPr id="32" name="Shape 30"/>
          <p:cNvSpPr/>
          <p:nvPr/>
        </p:nvSpPr>
        <p:spPr>
          <a:xfrm>
            <a:off x="6836664" y="2628900"/>
            <a:ext cx="765048" cy="2080260"/>
          </a:xfrm>
          <a:prstGeom prst="rect">
            <a:avLst/>
          </a:prstGeom>
          <a:solidFill>
            <a:schemeClr val="accent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36664" y="2427732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65</a:t>
            </a:r>
            <a:endParaRPr lang="en-US" b="1" dirty="0"/>
          </a:p>
        </p:txBody>
      </p:sp>
      <p:sp>
        <p:nvSpPr>
          <p:cNvPr id="34" name="Text 32"/>
          <p:cNvSpPr/>
          <p:nvPr/>
        </p:nvSpPr>
        <p:spPr>
          <a:xfrm>
            <a:off x="6827520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PO8</a:t>
            </a:r>
            <a:endParaRPr lang="en-US" b="1" dirty="0"/>
          </a:p>
        </p:txBody>
      </p:sp>
      <p:sp>
        <p:nvSpPr>
          <p:cNvPr id="35" name="Shape 33"/>
          <p:cNvSpPr/>
          <p:nvPr/>
        </p:nvSpPr>
        <p:spPr>
          <a:xfrm>
            <a:off x="7656576" y="2628900"/>
            <a:ext cx="765048" cy="20802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56576" y="2427732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65</a:t>
            </a:r>
            <a:endParaRPr lang="en-US" b="1" dirty="0"/>
          </a:p>
        </p:txBody>
      </p:sp>
      <p:sp>
        <p:nvSpPr>
          <p:cNvPr id="37" name="Text 35"/>
          <p:cNvSpPr/>
          <p:nvPr/>
        </p:nvSpPr>
        <p:spPr>
          <a:xfrm>
            <a:off x="7647432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PO9</a:t>
            </a:r>
            <a:endParaRPr lang="en-US" b="1" dirty="0"/>
          </a:p>
        </p:txBody>
      </p:sp>
      <p:sp>
        <p:nvSpPr>
          <p:cNvPr id="38" name="Shape 36"/>
          <p:cNvSpPr/>
          <p:nvPr/>
        </p:nvSpPr>
        <p:spPr>
          <a:xfrm>
            <a:off x="8476488" y="1664206"/>
            <a:ext cx="765048" cy="304495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76488" y="1411352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95</a:t>
            </a:r>
            <a:endParaRPr lang="en-US" b="1" dirty="0"/>
          </a:p>
        </p:txBody>
      </p:sp>
      <p:sp>
        <p:nvSpPr>
          <p:cNvPr id="40" name="Text 38"/>
          <p:cNvSpPr/>
          <p:nvPr/>
        </p:nvSpPr>
        <p:spPr>
          <a:xfrm>
            <a:off x="8467344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PO10</a:t>
            </a:r>
            <a:endParaRPr lang="en-US" b="1" dirty="0"/>
          </a:p>
        </p:txBody>
      </p:sp>
      <p:sp>
        <p:nvSpPr>
          <p:cNvPr id="41" name="Shape 39"/>
          <p:cNvSpPr/>
          <p:nvPr/>
        </p:nvSpPr>
        <p:spPr>
          <a:xfrm>
            <a:off x="9296400" y="1892808"/>
            <a:ext cx="765048" cy="2816352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250680" y="1615409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90</a:t>
            </a:r>
            <a:endParaRPr lang="en-US" b="1" dirty="0"/>
          </a:p>
        </p:txBody>
      </p:sp>
      <p:sp>
        <p:nvSpPr>
          <p:cNvPr id="43" name="Text 41"/>
          <p:cNvSpPr/>
          <p:nvPr/>
        </p:nvSpPr>
        <p:spPr>
          <a:xfrm>
            <a:off x="9287256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PO11</a:t>
            </a:r>
            <a:endParaRPr lang="en-US" b="1" dirty="0"/>
          </a:p>
        </p:txBody>
      </p:sp>
      <p:sp>
        <p:nvSpPr>
          <p:cNvPr id="44" name="Shape 42"/>
          <p:cNvSpPr/>
          <p:nvPr/>
        </p:nvSpPr>
        <p:spPr>
          <a:xfrm>
            <a:off x="10116312" y="2395728"/>
            <a:ext cx="765048" cy="23134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107168" y="2128219"/>
            <a:ext cx="76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70</a:t>
            </a:r>
            <a:endParaRPr lang="en-US" b="1" dirty="0"/>
          </a:p>
        </p:txBody>
      </p:sp>
      <p:sp>
        <p:nvSpPr>
          <p:cNvPr id="46" name="Text 44"/>
          <p:cNvSpPr/>
          <p:nvPr/>
        </p:nvSpPr>
        <p:spPr>
          <a:xfrm>
            <a:off x="10107168" y="4764024"/>
            <a:ext cx="783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</a:rPr>
              <a:t>PO12</a:t>
            </a:r>
            <a:endParaRPr lang="en-US" b="1" dirty="0"/>
          </a:p>
        </p:txBody>
      </p:sp>
      <p:sp>
        <p:nvSpPr>
          <p:cNvPr id="47" name="Text 45"/>
          <p:cNvSpPr/>
          <p:nvPr/>
        </p:nvSpPr>
        <p:spPr>
          <a:xfrm rot="16200000">
            <a:off x="-290275" y="2786587"/>
            <a:ext cx="21898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PO Attainment (%)</a:t>
            </a:r>
          </a:p>
        </p:txBody>
      </p:sp>
      <p:sp>
        <p:nvSpPr>
          <p:cNvPr id="48" name="Text 46"/>
          <p:cNvSpPr/>
          <p:nvPr/>
        </p:nvSpPr>
        <p:spPr>
          <a:xfrm>
            <a:off x="4160520" y="4957357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PO report of a cohort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149247C-ACF2-F36E-2916-A7E8A46F5BC7}"/>
              </a:ext>
            </a:extLst>
          </p:cNvPr>
          <p:cNvGrpSpPr/>
          <p:nvPr/>
        </p:nvGrpSpPr>
        <p:grpSpPr>
          <a:xfrm>
            <a:off x="2691385" y="5257799"/>
            <a:ext cx="6939632" cy="1051553"/>
            <a:chOff x="3337560" y="5257800"/>
            <a:chExt cx="5486400" cy="868680"/>
          </a:xfrm>
        </p:grpSpPr>
        <p:sp>
          <p:nvSpPr>
            <p:cNvPr id="49" name="Shape 47"/>
            <p:cNvSpPr/>
            <p:nvPr/>
          </p:nvSpPr>
          <p:spPr>
            <a:xfrm>
              <a:off x="3337560" y="5257800"/>
              <a:ext cx="5486400" cy="868680"/>
            </a:xfrm>
            <a:prstGeom prst="roundRect">
              <a:avLst>
                <a:gd name="adj" fmla="val 8421"/>
              </a:avLst>
            </a:prstGeom>
            <a:solidFill>
              <a:srgbClr val="FFF4D6"/>
            </a:solidFill>
            <a:ln w="1397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3337560" y="5257800"/>
              <a:ext cx="5486400" cy="320040"/>
            </a:xfrm>
            <a:prstGeom prst="rect">
              <a:avLst/>
            </a:prstGeom>
            <a:solidFill>
              <a:srgbClr val="F2B441"/>
            </a:solidFill>
            <a:ln w="12700">
              <a:solidFill>
                <a:srgbClr val="F2B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49"/>
            <p:cNvSpPr/>
            <p:nvPr/>
          </p:nvSpPr>
          <p:spPr>
            <a:xfrm>
              <a:off x="3447288" y="5330952"/>
              <a:ext cx="52669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Observations</a:t>
              </a:r>
              <a:endParaRPr lang="en-US" sz="2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474720" y="5577840"/>
              <a:ext cx="5212080" cy="54864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02A43"/>
                  </a:solidFill>
                </a:rPr>
                <a:t>1. Only PO1 was not attained for this cohort.</a:t>
              </a:r>
              <a:endParaRPr lang="en-US" b="1" dirty="0"/>
            </a:p>
            <a:p>
              <a:pPr marL="0" indent="0">
                <a:buNone/>
              </a:pPr>
              <a:r>
                <a:rPr lang="en-US" b="1" dirty="0">
                  <a:solidFill>
                    <a:srgbClr val="102A43"/>
                  </a:solidFill>
                </a:rPr>
                <a:t>2. Other POs were attained.</a:t>
              </a:r>
              <a:endParaRPr lang="en-US" b="1" dirty="0"/>
            </a:p>
          </p:txBody>
        </p:sp>
      </p:grpSp>
      <p:sp>
        <p:nvSpPr>
          <p:cNvPr id="55" name="Shape 11">
            <a:extLst>
              <a:ext uri="{FF2B5EF4-FFF2-40B4-BE49-F238E27FC236}">
                <a16:creationId xmlns:a16="http://schemas.microsoft.com/office/drawing/2014/main" id="{5762D55E-EF94-6661-77F1-2181C1FE5A5E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051560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1. Directives on Outcome Attainment in BAETE Manual and SAR Template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2. CO Attainment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3. PO Attainment</a:t>
            </a:r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4. PEO Attainment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5. Continuous Quality Improvement (CQI)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6. Summary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31386F5-4E3F-01C5-C7F8-C56F12824A67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68307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of PEO Attainment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284930"/>
            <a:ext cx="10698480" cy="509758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algn="just"/>
            <a:r>
              <a:rPr lang="en-US" sz="2400" dirty="0">
                <a:solidFill>
                  <a:srgbClr val="102A43"/>
                </a:solidFill>
              </a:rPr>
              <a:t>• </a:t>
            </a:r>
            <a:r>
              <a:rPr lang="en-US" sz="2400" b="1" dirty="0">
                <a:solidFill>
                  <a:srgbClr val="102A43"/>
                </a:solidFill>
              </a:rPr>
              <a:t>Accreditation Criteria, ACC-MAN-02-V3-F,  5.1 Program Educational Objectives:</a:t>
            </a:r>
            <a:r>
              <a:rPr lang="en-US" sz="2400" dirty="0">
                <a:solidFill>
                  <a:srgbClr val="102A43"/>
                </a:solidFill>
              </a:rPr>
              <a:t> the program must demonstrate an established system for compiling the level of attainment of PEOs.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102A43"/>
                </a:solidFill>
              </a:rPr>
              <a:t>The system should include tracking and feedback from graduates and employers.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solidFill>
                  <a:srgbClr val="102A43"/>
                </a:solidFill>
              </a:rPr>
              <a:t>• </a:t>
            </a:r>
            <a:r>
              <a:rPr lang="en-US" sz="2400" b="1" dirty="0">
                <a:solidFill>
                  <a:srgbClr val="102A43"/>
                </a:solidFill>
              </a:rPr>
              <a:t>Important stakeholders: employers and alumni.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solidFill>
                  <a:srgbClr val="102A43"/>
                </a:solidFill>
              </a:rPr>
              <a:t>• </a:t>
            </a:r>
            <a:r>
              <a:rPr lang="en-US" sz="2400" b="1" dirty="0">
                <a:solidFill>
                  <a:srgbClr val="102A43"/>
                </a:solidFill>
              </a:rPr>
              <a:t>Survey is the preferred tool.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Questions should be designed for each PEO statement.</a:t>
            </a:r>
            <a:endParaRPr lang="en-US" sz="24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02A43"/>
                </a:solidFill>
              </a:rPr>
              <a:t>How survey responses are used to assess PEO attainment must be indicated.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0" indent="0" algn="just">
              <a:buNone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• If there is no OBE-based graduating batch, PEO can be assessed with a non-OBE batch following BAETE guidance.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CE76440-1DA3-6D39-3A3E-CFABEEF393FB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051560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1. Directives on Outcome Attainment in BAETE Manual and SAR Template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2. CO Attainment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3. PO Attainment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4. PEO Attainment</a:t>
            </a:r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5. Continuous Quality Improvement (CQI)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2606D"/>
                </a:solidFill>
              </a:rPr>
              <a:t>6. Summary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6763103-6995-BC66-9EB1-1FD9F58883BD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the Loop through Continuous Quality Improvement (CQI)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620" y="1261872"/>
            <a:ext cx="6414581" cy="5120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Establish a CQI cycle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define the period after which actions will be taken for improvement.</a:t>
            </a:r>
            <a:endParaRPr lang="en-US" sz="28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For CO, PO and PEO, different durations may be used.</a:t>
            </a:r>
          </a:p>
          <a:p>
            <a:pPr lvl="1" algn="just"/>
            <a:endParaRPr lang="en-US" sz="2800" dirty="0"/>
          </a:p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</a:t>
            </a:r>
            <a:r>
              <a:rPr lang="en-US" sz="2800" b="1" dirty="0">
                <a:solidFill>
                  <a:srgbClr val="102A43"/>
                </a:solidFill>
              </a:rPr>
              <a:t>Identify stakeholders 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to collect feedback</a:t>
            </a:r>
            <a:endParaRPr lang="en-US" sz="28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Students, faculty members, employers and alumni are popular stakeholders</a:t>
            </a:r>
            <a:endParaRPr lang="en-US" sz="28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02A43"/>
                </a:solidFill>
              </a:rPr>
              <a:t>Select relevant stakeholder groups for CO, PO and PEO</a:t>
            </a:r>
            <a:endParaRPr lang="en-US" sz="28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80DBF2-B505-C1DF-C709-DE3CCBD702A8}"/>
              </a:ext>
            </a:extLst>
          </p:cNvPr>
          <p:cNvGrpSpPr/>
          <p:nvPr/>
        </p:nvGrpSpPr>
        <p:grpSpPr>
          <a:xfrm>
            <a:off x="6870590" y="1530745"/>
            <a:ext cx="4925170" cy="3942475"/>
            <a:chOff x="6870590" y="1530745"/>
            <a:chExt cx="4925170" cy="39424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5BE6B04-A1B4-BD15-00DD-16D0D4C874DB}"/>
                </a:ext>
              </a:extLst>
            </p:cNvPr>
            <p:cNvGrpSpPr/>
            <p:nvPr/>
          </p:nvGrpSpPr>
          <p:grpSpPr>
            <a:xfrm>
              <a:off x="6870590" y="1530745"/>
              <a:ext cx="4925170" cy="3942475"/>
              <a:chOff x="6857999" y="1508759"/>
              <a:chExt cx="4480561" cy="3279128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8270219" y="1508759"/>
                <a:ext cx="1815613" cy="1093677"/>
              </a:xfrm>
              <a:prstGeom prst="ellipse">
                <a:avLst/>
              </a:prstGeom>
              <a:solidFill>
                <a:srgbClr val="0E7C86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8485632" y="1709927"/>
                <a:ext cx="1444200" cy="6403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85000" lnSpcReduction="10000"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</a:rPr>
                  <a:t>Taking</a:t>
                </a: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</a:rPr>
                  <a:t>Feedback from Stakeholders</a:t>
                </a:r>
                <a:endParaRPr lang="en-US" sz="2000" dirty="0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9522947" y="2712654"/>
                <a:ext cx="1815613" cy="990666"/>
              </a:xfrm>
              <a:prstGeom prst="ellipse">
                <a:avLst/>
              </a:prstGeom>
              <a:solidFill>
                <a:srgbClr val="F2B44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9604324" y="2890220"/>
                <a:ext cx="1670227" cy="6027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Analyzing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feedback</a:t>
                </a:r>
                <a:endParaRPr lang="en-US" dirty="0"/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8299925" y="3797221"/>
                <a:ext cx="1815613" cy="990666"/>
              </a:xfrm>
              <a:prstGeom prst="ellipse">
                <a:avLst/>
              </a:prstGeom>
              <a:solidFill>
                <a:srgbClr val="0E7C86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8299925" y="3908366"/>
                <a:ext cx="1815613" cy="7823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Deciding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Actions to 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be taken</a:t>
                </a:r>
                <a:endParaRPr lang="en-US" dirty="0"/>
              </a:p>
            </p:txBody>
          </p:sp>
          <p:sp>
            <p:nvSpPr>
              <p:cNvPr id="16" name="Shape 14"/>
              <p:cNvSpPr/>
              <p:nvPr/>
            </p:nvSpPr>
            <p:spPr>
              <a:xfrm>
                <a:off x="6857999" y="2712654"/>
                <a:ext cx="1815613" cy="990666"/>
              </a:xfrm>
              <a:prstGeom prst="ellipse">
                <a:avLst/>
              </a:prstGeom>
              <a:solidFill>
                <a:srgbClr val="F2B44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6931152" y="2780091"/>
                <a:ext cx="1624312" cy="8366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Making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Necessary changes</a:t>
                </a:r>
                <a:endParaRPr lang="en-US" dirty="0"/>
              </a:p>
            </p:txBody>
          </p:sp>
        </p:grp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10CAE29D-3F0C-7A0E-C18B-FB6CFF3FAE13}"/>
                </a:ext>
              </a:extLst>
            </p:cNvPr>
            <p:cNvSpPr/>
            <p:nvPr/>
          </p:nvSpPr>
          <p:spPr>
            <a:xfrm rot="2540384">
              <a:off x="10418725" y="2444113"/>
              <a:ext cx="414929" cy="41611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22FA150-B9CF-F41A-9C2F-51E9CA7F8C5A}"/>
                </a:ext>
              </a:extLst>
            </p:cNvPr>
            <p:cNvSpPr/>
            <p:nvPr/>
          </p:nvSpPr>
          <p:spPr>
            <a:xfrm rot="7726003">
              <a:off x="10503387" y="4308211"/>
              <a:ext cx="414929" cy="41611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2EE40498-3410-55B9-9ABF-2E2B36E34297}"/>
                </a:ext>
              </a:extLst>
            </p:cNvPr>
            <p:cNvSpPr/>
            <p:nvPr/>
          </p:nvSpPr>
          <p:spPr>
            <a:xfrm rot="13583822">
              <a:off x="8087607" y="4250461"/>
              <a:ext cx="414929" cy="41611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ABACF2D1-B0DF-75FF-EF68-4B52808E7F19}"/>
                </a:ext>
              </a:extLst>
            </p:cNvPr>
            <p:cNvSpPr/>
            <p:nvPr/>
          </p:nvSpPr>
          <p:spPr>
            <a:xfrm rot="18722681">
              <a:off x="8073357" y="2444229"/>
              <a:ext cx="414929" cy="41611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Shape 11">
            <a:extLst>
              <a:ext uri="{FF2B5EF4-FFF2-40B4-BE49-F238E27FC236}">
                <a16:creationId xmlns:a16="http://schemas.microsoft.com/office/drawing/2014/main" id="{828743B5-3EA8-6CF5-0488-433EACBBD2CF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Quality Improvement (CQI)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41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89578"/>
              </p:ext>
            </p:extLst>
          </p:nvPr>
        </p:nvGraphicFramePr>
        <p:xfrm>
          <a:off x="1103243" y="2069459"/>
          <a:ext cx="10281037" cy="3236976"/>
        </p:xfrm>
        <a:graphic>
          <a:graphicData uri="http://schemas.openxmlformats.org/drawingml/2006/table">
            <a:tbl>
              <a:tblPr/>
              <a:tblGrid>
                <a:gridCol w="3998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2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CQI Area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Feedback Source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Course instructors and students (secondary)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Relevant stakeholders, including graduates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PEOs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Graduates and their employers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Curriculum and teaching quality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Faculty members and students</a:t>
                      </a:r>
                      <a:endParaRPr lang="en-US" sz="2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325880" y="5659136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CQI loops should be a regular practice - not something done only before an accreditation visit.</a:t>
            </a:r>
            <a:endParaRPr lang="en-US" sz="2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833C8C1-7429-AEE7-20F0-9CAFBB54FBDA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5B45CFA-5754-1289-82A6-3F619917D17C}"/>
              </a:ext>
            </a:extLst>
          </p:cNvPr>
          <p:cNvSpPr/>
          <p:nvPr/>
        </p:nvSpPr>
        <p:spPr>
          <a:xfrm>
            <a:off x="1325880" y="1376708"/>
            <a:ext cx="9418320" cy="69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The program must complete the CQI loops periodically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42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635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39"/>
            <a:ext cx="10698480" cy="505662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The program needs to assess attainment of COs in each course.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Rubrics, assessment processes, attainment criteria, scale, and expected level of attainment should be clearly defined.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The program must demonstrate, using direct methods, that students attain all POs by graduation.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A system for compiling PEO attainment must be established. Feedback from graduates and their employers need to be collected.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>
                <a:solidFill>
                  <a:srgbClr val="102A43"/>
                </a:solidFill>
              </a:rPr>
              <a:t>• Assessment of outcome attainment is vital for CQI.</a:t>
            </a:r>
            <a:endParaRPr lang="en-US" sz="28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B581844-14F5-06A4-749B-AB4C43B9F3DB}"/>
              </a:ext>
            </a:extLst>
          </p:cNvPr>
          <p:cNvSpPr/>
          <p:nvPr/>
        </p:nvSpPr>
        <p:spPr>
          <a:xfrm>
            <a:off x="557971" y="1178454"/>
            <a:ext cx="210312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0" y="7315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AF6"/>
                </a:solidFill>
              </a:rPr>
              <a:t>BAETE OBE Training | Outcome-Based Teaching, Learning and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81360" y="2743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B705"/>
                </a:solidFill>
              </a:rPr>
              <a:t>BAETE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60196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DEAF6"/>
                </a:solidFill>
              </a:rPr>
              <a:t>62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End of Module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80160" y="32461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AF6"/>
                </a:solidFill>
              </a:rPr>
              <a:t>Module 6: Outcome Attainment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3886200"/>
            <a:ext cx="1965960" cy="73152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74E32DC-2C44-DA09-58CB-647BB5222B3E}"/>
              </a:ext>
            </a:extLst>
          </p:cNvPr>
          <p:cNvSpPr/>
          <p:nvPr/>
        </p:nvSpPr>
        <p:spPr>
          <a:xfrm>
            <a:off x="883767" y="441655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3267</Words>
  <Application>Microsoft Office PowerPoint</Application>
  <PresentationFormat>Widescreen</PresentationFormat>
  <Paragraphs>796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BAUST EEE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Outcome Attainment</dc:title>
  <dc:subject>BAETE OBE Training Module 6</dc:subject>
  <dc:creator>OpenAI</dc:creator>
  <cp:lastModifiedBy>Mafin Muntasir Rahman</cp:lastModifiedBy>
  <cp:revision>77</cp:revision>
  <dcterms:created xsi:type="dcterms:W3CDTF">2026-07-15T05:49:24Z</dcterms:created>
  <dcterms:modified xsi:type="dcterms:W3CDTF">2026-07-23T02:29:33Z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2026-07-15T18:33:09Z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d002dd0e-0ac0-4093-acb7-6ee7d30791fe</vt:lpwstr>
  </property>
  <property fmtid="{D5CDD505-2E9C-101B-9397-08002B2CF9AE}" pid="7" name="MSIP_Label_defa4170-0d19-0005-0004-bc88714345d2_ActionId">
    <vt:lpwstr>8a3e86ee-ad11-4515-b7c6-8aa26a16e82b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